
<file path=[Content_Types].xml><?xml version="1.0" encoding="utf-8"?>
<Types xmlns="http://schemas.openxmlformats.org/package/2006/content-types">
  <Default Extension="jpg" ContentType="image/jpeg"/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Layouts/slideLayout8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7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61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5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2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Layouts/slideLayout6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54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53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Layouts/slideLayout3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23.xml" ContentType="application/vnd.openxmlformats-officedocument.presentationml.slideLayout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9799300" cy="11160125"/>
  <p:notesSz cx="19799300" cy="11160125"/>
  <p:defaultTextStyle>
    <a:defPPr marL="0" marR="0" indent="0" algn="l" defTabSz="90006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9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6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2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7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7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71" d="100"/>
          <a:sy n="71" d="100"/>
        </p:scale>
        <p:origin x="176" y="416"/>
      </p:cViewPr>
      <p:guideLst>
        <p:guide pos="3560"/>
        <p:guide pos="102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5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 fill="norm" stroke="1" extrusionOk="0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1_ТС заголовок в 1 строку c картинко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/>
          <a:srcRect l="0" t="4375" r="0" b="12816"/>
          <a:stretch/>
        </p:blipFill>
        <p:spPr bwMode="auto">
          <a:xfrm>
            <a:off x="0" y="-1"/>
            <a:ext cx="19823463" cy="1116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/>
          <p:cNvSpPr/>
          <p:nvPr userDrawn="1"/>
        </p:nvSpPr>
        <p:spPr bwMode="auto"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Прямоугольник с одним скругленным углом 2"/>
          <p:cNvSpPr/>
          <p:nvPr userDrawn="1"/>
        </p:nvSpPr>
        <p:spPr bwMode="auto"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 fill="norm" stroke="1" extrusionOk="0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1563859" y="5544"/>
            <a:ext cx="8234700" cy="10435444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32481"/>
              <a:gd name="connsiteY0" fmla="*/ 0 h 10388036"/>
              <a:gd name="connsiteX1" fmla="*/ 8709658 w 12132481"/>
              <a:gd name="connsiteY1" fmla="*/ 12745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2132481"/>
              <a:gd name="connsiteY0" fmla="*/ 0 h 10388036"/>
              <a:gd name="connsiteX1" fmla="*/ 10100408 w 12132481"/>
              <a:gd name="connsiteY1" fmla="*/ 31033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0100408"/>
              <a:gd name="connsiteY0" fmla="*/ 0 h 10369748"/>
              <a:gd name="connsiteX1" fmla="*/ 10100408 w 10100408"/>
              <a:gd name="connsiteY1" fmla="*/ 31033 h 10369748"/>
              <a:gd name="connsiteX2" fmla="*/ 10068785 w 10100408"/>
              <a:gd name="connsiteY2" fmla="*/ 10369748 h 10369748"/>
              <a:gd name="connsiteX3" fmla="*/ 2436612 w 10100408"/>
              <a:gd name="connsiteY3" fmla="*/ 10353423 h 10369748"/>
              <a:gd name="connsiteX4" fmla="*/ 525713 w 10100408"/>
              <a:gd name="connsiteY4" fmla="*/ 9789562 h 10369748"/>
              <a:gd name="connsiteX5" fmla="*/ 38614 w 10100408"/>
              <a:gd name="connsiteY5" fmla="*/ 8795664 h 10369748"/>
              <a:gd name="connsiteX6" fmla="*/ 25987 w 10100408"/>
              <a:gd name="connsiteY6" fmla="*/ 7204711 h 10369748"/>
              <a:gd name="connsiteX7" fmla="*/ 19421 w 10100408"/>
              <a:gd name="connsiteY7" fmla="*/ 0 h 10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00408" h="10369748" fill="norm" stroke="1" extrusionOk="0">
                <a:moveTo>
                  <a:pt x="19421" y="0"/>
                </a:moveTo>
                <a:lnTo>
                  <a:pt x="10100408" y="31033"/>
                </a:lnTo>
                <a:cubicBezTo>
                  <a:pt x="10097344" y="3485566"/>
                  <a:pt x="10071849" y="6915215"/>
                  <a:pt x="10068785" y="10369748"/>
                </a:cubicBezTo>
                <a:lnTo>
                  <a:pt x="2436612" y="10353423"/>
                </a:lnTo>
                <a:cubicBezTo>
                  <a:pt x="1353219" y="10361007"/>
                  <a:pt x="863858" y="10107061"/>
                  <a:pt x="525713" y="9789562"/>
                </a:cubicBezTo>
                <a:cubicBezTo>
                  <a:pt x="187568" y="9472063"/>
                  <a:pt x="121902" y="9226472"/>
                  <a:pt x="38614" y="8795664"/>
                </a:cubicBezTo>
                <a:cubicBezTo>
                  <a:pt x="-44674" y="8364856"/>
                  <a:pt x="33919" y="7439880"/>
                  <a:pt x="25987" y="7204711"/>
                </a:cubicBezTo>
                <a:cubicBezTo>
                  <a:pt x="18055" y="6969542"/>
                  <a:pt x="11378" y="2447544"/>
                  <a:pt x="1942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alphaModFix amt="51000"/>
          </a:blip>
          <a:stretch/>
        </p:blipFill>
        <p:spPr bwMode="auto"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0"/>
            <a:ext cx="9287822" cy="10458915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fill="norm" stroke="1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alphaModFix amt="29000"/>
          </a:blip>
          <a:srcRect l="0" t="0" r="9692" b="0"/>
          <a:stretch/>
        </p:blipFill>
        <p:spPr bwMode="auto"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fill="norm" stroke="1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 fill="norm" stroke="1" extrusionOk="0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0" rIns="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 fill="norm" stroke="1" extrusionOk="0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tabLst>
                <a:tab pos="4711865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5pPr>
          </a:lstStyle>
          <a:p>
            <a:pPr>
              <a:defRPr/>
            </a:pPr>
            <a:r>
              <a:rPr/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 sz="5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5pPr>
          </a:lstStyle>
          <a:p>
            <a:pPr>
              <a:defRPr/>
            </a:pPr>
            <a:r>
              <a:rPr/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Таким образом постоянное информационно-пропагандистское  обеспечение нашей деятельности играет важную роль</a:t>
            </a:r>
            <a:endParaRPr/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	с широким активом</a:t>
            </a:r>
            <a:endParaRPr/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 fill="norm" stroke="1" extrusionOk="0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7878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fill="norm" stroke="1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3_ТС заголовок в 1 строку c картинко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564506" y="-7560429"/>
            <a:ext cx="4679051" cy="1980806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4656495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55618 w 4679051"/>
              <a:gd name="connsiteY0" fmla="*/ 0 h 19808065"/>
              <a:gd name="connsiteX1" fmla="*/ 3857113 w 4679051"/>
              <a:gd name="connsiteY1" fmla="*/ 0 h 19808065"/>
              <a:gd name="connsiteX2" fmla="*/ 4679051 w 4679051"/>
              <a:gd name="connsiteY2" fmla="*/ 0 h 19808065"/>
              <a:gd name="connsiteX3" fmla="*/ 4667128 w 4679051"/>
              <a:gd name="connsiteY3" fmla="*/ 19789644 h 19808065"/>
              <a:gd name="connsiteX4" fmla="*/ 0 w 4679051"/>
              <a:gd name="connsiteY4" fmla="*/ 19808065 h 19808065"/>
              <a:gd name="connsiteX5" fmla="*/ 41994 w 4679051"/>
              <a:gd name="connsiteY5" fmla="*/ 1613624 h 19808065"/>
              <a:gd name="connsiteX6" fmla="*/ 1655618 w 4679051"/>
              <a:gd name="connsiteY6" fmla="*/ 0 h 1980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9051" h="19808065" fill="norm" stroke="1" extrusionOk="0">
                <a:moveTo>
                  <a:pt x="1655618" y="0"/>
                </a:moveTo>
                <a:lnTo>
                  <a:pt x="3857113" y="0"/>
                </a:lnTo>
                <a:lnTo>
                  <a:pt x="4679051" y="0"/>
                </a:lnTo>
                <a:cubicBezTo>
                  <a:pt x="4672830" y="3707601"/>
                  <a:pt x="4673349" y="16082043"/>
                  <a:pt x="4667128" y="19789644"/>
                </a:cubicBezTo>
                <a:lnTo>
                  <a:pt x="0" y="19808065"/>
                </a:lnTo>
                <a:cubicBezTo>
                  <a:pt x="12441" y="13714746"/>
                  <a:pt x="29553" y="7706943"/>
                  <a:pt x="41994" y="1613624"/>
                </a:cubicBezTo>
                <a:cubicBezTo>
                  <a:pt x="41994" y="722444"/>
                  <a:pt x="764438" y="0"/>
                  <a:pt x="165561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3_ТС заголовок в 1 строку c картинкой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" name="Рисунок 4"/>
          <p:cNvSpPr>
            <a:spLocks noGrp="1"/>
          </p:cNvSpPr>
          <p:nvPr>
            <p:ph type="pic" sz="quarter" idx="22"/>
          </p:nvPr>
        </p:nvSpPr>
        <p:spPr bwMode="auto">
          <a:xfrm>
            <a:off x="2158206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" name="Рисунок 4"/>
          <p:cNvSpPr>
            <a:spLocks noGrp="1"/>
          </p:cNvSpPr>
          <p:nvPr>
            <p:ph type="pic" sz="quarter" idx="28"/>
          </p:nvPr>
        </p:nvSpPr>
        <p:spPr bwMode="auto">
          <a:xfrm>
            <a:off x="7840910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" name="Рисунок 4"/>
          <p:cNvSpPr>
            <a:spLocks noGrp="1"/>
          </p:cNvSpPr>
          <p:nvPr>
            <p:ph type="pic" sz="quarter" idx="29"/>
          </p:nvPr>
        </p:nvSpPr>
        <p:spPr bwMode="auto">
          <a:xfrm>
            <a:off x="13670774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009946" y="-7023472"/>
            <a:ext cx="5786685" cy="1980658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5786018"/>
              <a:gd name="connsiteY0" fmla="*/ 0 h 19789643"/>
              <a:gd name="connsiteX1" fmla="*/ 3846480 w 5786018"/>
              <a:gd name="connsiteY1" fmla="*/ 0 h 19789643"/>
              <a:gd name="connsiteX2" fmla="*/ 5786018 w 5786018"/>
              <a:gd name="connsiteY2" fmla="*/ 16933 h 19789643"/>
              <a:gd name="connsiteX3" fmla="*/ 4667127 w 5786018"/>
              <a:gd name="connsiteY3" fmla="*/ 19789643 h 19789643"/>
              <a:gd name="connsiteX4" fmla="*/ 0 w 5786018"/>
              <a:gd name="connsiteY4" fmla="*/ 19786800 h 19789643"/>
              <a:gd name="connsiteX5" fmla="*/ 31361 w 5786018"/>
              <a:gd name="connsiteY5" fmla="*/ 1613624 h 19789643"/>
              <a:gd name="connsiteX6" fmla="*/ 1644985 w 5786018"/>
              <a:gd name="connsiteY6" fmla="*/ 0 h 19789643"/>
              <a:gd name="connsiteX0" fmla="*/ 1644985 w 5786685"/>
              <a:gd name="connsiteY0" fmla="*/ 0 h 19806580"/>
              <a:gd name="connsiteX1" fmla="*/ 3846480 w 5786685"/>
              <a:gd name="connsiteY1" fmla="*/ 0 h 19806580"/>
              <a:gd name="connsiteX2" fmla="*/ 5786018 w 5786685"/>
              <a:gd name="connsiteY2" fmla="*/ 16933 h 19806580"/>
              <a:gd name="connsiteX3" fmla="*/ 5784727 w 5786685"/>
              <a:gd name="connsiteY3" fmla="*/ 19806580 h 19806580"/>
              <a:gd name="connsiteX4" fmla="*/ 0 w 5786685"/>
              <a:gd name="connsiteY4" fmla="*/ 19786800 h 19806580"/>
              <a:gd name="connsiteX5" fmla="*/ 31361 w 5786685"/>
              <a:gd name="connsiteY5" fmla="*/ 1613624 h 19806580"/>
              <a:gd name="connsiteX6" fmla="*/ 1644985 w 5786685"/>
              <a:gd name="connsiteY6" fmla="*/ 0 h 198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6685" h="19806580" fill="norm" stroke="1" extrusionOk="0">
                <a:moveTo>
                  <a:pt x="1644985" y="0"/>
                </a:moveTo>
                <a:lnTo>
                  <a:pt x="3846480" y="0"/>
                </a:lnTo>
                <a:lnTo>
                  <a:pt x="5786018" y="16933"/>
                </a:lnTo>
                <a:cubicBezTo>
                  <a:pt x="5779797" y="3724534"/>
                  <a:pt x="5790948" y="16098979"/>
                  <a:pt x="5784727" y="19806580"/>
                </a:cubicBezTo>
                <a:lnTo>
                  <a:pt x="0" y="19786800"/>
                </a:lnTo>
                <a:cubicBezTo>
                  <a:pt x="12441" y="13693481"/>
                  <a:pt x="18920" y="7706943"/>
                  <a:pt x="31361" y="1613624"/>
                </a:cubicBezTo>
                <a:cubicBezTo>
                  <a:pt x="31361" y="722444"/>
                  <a:pt x="753805" y="0"/>
                  <a:pt x="1644985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Текст 1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4_Пользовательский макет">
    <p:bg>
      <p:bgPr shadeToTitle="0">
        <a:solidFill>
          <a:schemeClr val="accent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4724104" y="2788273"/>
            <a:ext cx="3191137" cy="6493788"/>
          </a:xfrm>
          <a:custGeom>
            <a:avLst/>
            <a:gdLst/>
            <a:ahLst/>
            <a:cxnLst/>
            <a:rect l="l" t="t" r="r" b="b"/>
            <a:pathLst>
              <a:path w="3242309" h="6584315" fill="norm" stroke="1" extrusionOk="0">
                <a:moveTo>
                  <a:pt x="3241786" y="0"/>
                </a:moveTo>
                <a:lnTo>
                  <a:pt x="0" y="0"/>
                </a:lnTo>
                <a:lnTo>
                  <a:pt x="0" y="6584092"/>
                </a:lnTo>
                <a:lnTo>
                  <a:pt x="3241786" y="6584092"/>
                </a:lnTo>
                <a:lnTo>
                  <a:pt x="3241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sz="800"/>
          </a:p>
        </p:txBody>
      </p:sp>
      <p:sp>
        <p:nvSpPr>
          <p:cNvPr id="20" name="object 4"/>
          <p:cNvSpPr/>
          <p:nvPr userDrawn="1"/>
        </p:nvSpPr>
        <p:spPr bwMode="auto">
          <a:xfrm>
            <a:off x="11971018" y="2788273"/>
            <a:ext cx="3191137" cy="6493788"/>
          </a:xfrm>
          <a:custGeom>
            <a:avLst/>
            <a:gdLst/>
            <a:ahLst/>
            <a:cxnLst/>
            <a:rect l="l" t="t" r="r" b="b"/>
            <a:pathLst>
              <a:path w="3242309" h="6584315" fill="norm" stroke="1" extrusionOk="0">
                <a:moveTo>
                  <a:pt x="3241786" y="0"/>
                </a:moveTo>
                <a:lnTo>
                  <a:pt x="0" y="0"/>
                </a:lnTo>
                <a:lnTo>
                  <a:pt x="0" y="6584092"/>
                </a:lnTo>
                <a:lnTo>
                  <a:pt x="3241786" y="6584092"/>
                </a:lnTo>
                <a:lnTo>
                  <a:pt x="3241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sz="800"/>
          </a:p>
        </p:txBody>
      </p:sp>
      <p:sp>
        <p:nvSpPr>
          <p:cNvPr id="21" name="object 5"/>
          <p:cNvSpPr/>
          <p:nvPr userDrawn="1"/>
        </p:nvSpPr>
        <p:spPr bwMode="auto">
          <a:xfrm>
            <a:off x="15532643" y="2788273"/>
            <a:ext cx="3191137" cy="6493788"/>
          </a:xfrm>
          <a:custGeom>
            <a:avLst/>
            <a:gdLst/>
            <a:ahLst/>
            <a:cxnLst/>
            <a:rect l="l" t="t" r="r" b="b"/>
            <a:pathLst>
              <a:path w="3242309" h="6584315" fill="norm" stroke="1" extrusionOk="0">
                <a:moveTo>
                  <a:pt x="3241786" y="0"/>
                </a:moveTo>
                <a:lnTo>
                  <a:pt x="0" y="0"/>
                </a:lnTo>
                <a:lnTo>
                  <a:pt x="0" y="6584092"/>
                </a:lnTo>
                <a:lnTo>
                  <a:pt x="3241786" y="6584092"/>
                </a:lnTo>
                <a:lnTo>
                  <a:pt x="3241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sz="800"/>
          </a:p>
        </p:txBody>
      </p:sp>
      <p:sp>
        <p:nvSpPr>
          <p:cNvPr id="22" name="object 6"/>
          <p:cNvSpPr/>
          <p:nvPr userDrawn="1"/>
        </p:nvSpPr>
        <p:spPr bwMode="auto">
          <a:xfrm>
            <a:off x="1038812" y="2788273"/>
            <a:ext cx="3191137" cy="6493788"/>
          </a:xfrm>
          <a:custGeom>
            <a:avLst/>
            <a:gdLst/>
            <a:ahLst/>
            <a:cxnLst/>
            <a:rect l="l" t="t" r="r" b="b"/>
            <a:pathLst>
              <a:path w="3242310" h="6584315" fill="norm" stroke="1" extrusionOk="0">
                <a:moveTo>
                  <a:pt x="3241786" y="0"/>
                </a:moveTo>
                <a:lnTo>
                  <a:pt x="0" y="0"/>
                </a:lnTo>
                <a:lnTo>
                  <a:pt x="0" y="6584092"/>
                </a:lnTo>
                <a:lnTo>
                  <a:pt x="3241786" y="6584092"/>
                </a:lnTo>
                <a:lnTo>
                  <a:pt x="3241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sz="800"/>
          </a:p>
        </p:txBody>
      </p:sp>
      <p:sp>
        <p:nvSpPr>
          <p:cNvPr id="23" name="object 7"/>
          <p:cNvSpPr/>
          <p:nvPr userDrawn="1"/>
        </p:nvSpPr>
        <p:spPr bwMode="auto">
          <a:xfrm>
            <a:off x="8285726" y="2788273"/>
            <a:ext cx="3191137" cy="6493788"/>
          </a:xfrm>
          <a:custGeom>
            <a:avLst/>
            <a:gdLst/>
            <a:ahLst/>
            <a:cxnLst/>
            <a:rect l="l" t="t" r="r" b="b"/>
            <a:pathLst>
              <a:path w="3242309" h="6584315" fill="norm" stroke="1" extrusionOk="0">
                <a:moveTo>
                  <a:pt x="3241786" y="0"/>
                </a:moveTo>
                <a:lnTo>
                  <a:pt x="0" y="0"/>
                </a:lnTo>
                <a:lnTo>
                  <a:pt x="0" y="6584092"/>
                </a:lnTo>
                <a:lnTo>
                  <a:pt x="3241786" y="6584092"/>
                </a:lnTo>
                <a:lnTo>
                  <a:pt x="32417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fill="norm" stroke="1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 bwMode="auto"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0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rPr/>
              <a:t>Разнообразный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богатый</a:t>
            </a:r>
            <a:r>
              <a:rPr/>
              <a:t> </a:t>
            </a:r>
            <a:r>
              <a:rPr/>
              <a:t>опыт</a:t>
            </a:r>
            <a:r>
              <a:rPr/>
              <a:t> </a:t>
            </a:r>
            <a:r>
              <a:rPr/>
              <a:t>рамки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место</a:t>
            </a:r>
            <a:r>
              <a:rPr/>
              <a:t> </a:t>
            </a:r>
            <a:r>
              <a:rPr/>
              <a:t>обучения</a:t>
            </a:r>
            <a:r>
              <a:rPr/>
              <a:t> </a:t>
            </a:r>
            <a:r>
              <a:rPr/>
              <a:t>кадров</a:t>
            </a:r>
            <a:r>
              <a:rPr/>
              <a:t> </a:t>
            </a:r>
            <a:r>
              <a:rPr/>
              <a:t>позволяет</a:t>
            </a:r>
            <a:r>
              <a:rPr/>
              <a:t>  </a:t>
            </a:r>
            <a:r>
              <a:rPr/>
              <a:t>выполнять</a:t>
            </a:r>
            <a:r>
              <a:rPr/>
              <a:t> </a:t>
            </a:r>
            <a:r>
              <a:rPr/>
              <a:t>важные</a:t>
            </a:r>
            <a:r>
              <a:rPr/>
              <a:t> </a:t>
            </a:r>
            <a:r>
              <a:rPr/>
              <a:t>задания</a:t>
            </a:r>
            <a:r>
              <a:rPr/>
              <a:t> </a:t>
            </a:r>
            <a:r>
              <a:rPr/>
              <a:t>по</a:t>
            </a:r>
            <a:r>
              <a:rPr/>
              <a:t> </a:t>
            </a:r>
            <a:r>
              <a:rPr/>
              <a:t>разработке</a:t>
            </a:r>
            <a:r>
              <a:rPr/>
              <a:t> </a:t>
            </a:r>
            <a:r>
              <a:rPr/>
              <a:t>позиций</a:t>
            </a:r>
            <a:r>
              <a:rPr/>
              <a:t>, </a:t>
            </a:r>
            <a:r>
              <a:rPr/>
              <a:t>занимаемых</a:t>
            </a:r>
            <a:r>
              <a:rPr/>
              <a:t> </a:t>
            </a:r>
            <a:r>
              <a:rPr/>
              <a:t>участниками</a:t>
            </a:r>
            <a:r>
              <a:rPr/>
              <a:t>  </a:t>
            </a:r>
            <a:r>
              <a:rPr/>
              <a:t>в</a:t>
            </a:r>
            <a:r>
              <a:rPr/>
              <a:t> </a:t>
            </a:r>
            <a:r>
              <a:rPr/>
              <a:t>отношении</a:t>
            </a:r>
            <a:r>
              <a:rPr/>
              <a:t> </a:t>
            </a:r>
            <a:r>
              <a:rPr/>
              <a:t>поставленных</a:t>
            </a:r>
            <a:r>
              <a:rPr/>
              <a:t> </a:t>
            </a:r>
            <a:r>
              <a:rPr/>
              <a:t>задач</a:t>
            </a:r>
            <a:r>
              <a:rPr/>
              <a:t>. </a:t>
            </a:r>
            <a:r>
              <a:rPr/>
              <a:t>Таким</a:t>
            </a:r>
            <a:r>
              <a:rPr/>
              <a:t> </a:t>
            </a:r>
            <a:r>
              <a:rPr/>
              <a:t>образом</a:t>
            </a:r>
            <a:r>
              <a:rPr/>
              <a:t> </a:t>
            </a:r>
            <a:r>
              <a:rPr/>
              <a:t>дальнейшее</a:t>
            </a:r>
            <a:r>
              <a:rPr/>
              <a:t> </a:t>
            </a:r>
            <a:r>
              <a:rPr/>
              <a:t>развитие</a:t>
            </a:r>
            <a:r>
              <a:rPr/>
              <a:t>  </a:t>
            </a:r>
            <a:r>
              <a:rPr/>
              <a:t>различных</a:t>
            </a:r>
            <a:r>
              <a:rPr/>
              <a:t> </a:t>
            </a:r>
            <a:r>
              <a:rPr/>
              <a:t>форм</a:t>
            </a:r>
            <a:r>
              <a:rPr/>
              <a:t> </a:t>
            </a:r>
            <a:r>
              <a:rPr/>
              <a:t>деятельности</a:t>
            </a:r>
            <a:r>
              <a:rPr/>
              <a:t> </a:t>
            </a:r>
            <a:r>
              <a:rPr/>
              <a:t>требуют</a:t>
            </a:r>
            <a:r>
              <a:rPr/>
              <a:t> </a:t>
            </a:r>
            <a:r>
              <a:rPr/>
              <a:t>от</a:t>
            </a:r>
            <a:r>
              <a:rPr/>
              <a:t> </a:t>
            </a:r>
            <a:r>
              <a:rPr/>
              <a:t>нас</a:t>
            </a:r>
            <a:r>
              <a:rPr/>
              <a:t> </a:t>
            </a:r>
            <a:r>
              <a:rPr/>
              <a:t>анализа</a:t>
            </a:r>
            <a:r>
              <a:rPr/>
              <a:t> </a:t>
            </a:r>
            <a:r>
              <a:rPr/>
              <a:t>системы</a:t>
            </a:r>
            <a:r>
              <a:rPr/>
              <a:t> </a:t>
            </a:r>
            <a:r>
              <a:rPr/>
              <a:t>обучения</a:t>
            </a:r>
            <a:r>
              <a:rPr/>
              <a:t>  </a:t>
            </a:r>
            <a:r>
              <a:rPr/>
              <a:t>кадров</a:t>
            </a:r>
            <a:r>
              <a:rPr/>
              <a:t>, </a:t>
            </a:r>
            <a:r>
              <a:rPr/>
              <a:t>соответствует</a:t>
            </a:r>
            <a:r>
              <a:rPr/>
              <a:t> </a:t>
            </a:r>
            <a:r>
              <a:rPr/>
              <a:t>насущным</a:t>
            </a:r>
            <a:r>
              <a:rPr/>
              <a:t> </a:t>
            </a:r>
            <a:r>
              <a:rPr/>
              <a:t>потребностям</a:t>
            </a:r>
            <a:r>
              <a:rPr/>
              <a:t>. </a:t>
            </a:r>
            <a:r>
              <a:rPr/>
              <a:t>С</a:t>
            </a:r>
            <a:r>
              <a:rPr/>
              <a:t> </a:t>
            </a:r>
            <a:r>
              <a:rPr/>
              <a:t>другой</a:t>
            </a:r>
            <a:r>
              <a:rPr/>
              <a:t> </a:t>
            </a:r>
            <a:r>
              <a:rPr/>
              <a:t>стороны</a:t>
            </a:r>
            <a:r>
              <a:rPr/>
              <a:t>  </a:t>
            </a:r>
            <a:r>
              <a:rPr/>
              <a:t>консультация</a:t>
            </a:r>
            <a:r>
              <a:rPr/>
              <a:t> </a:t>
            </a:r>
            <a:r>
              <a:rPr/>
              <a:t>с</a:t>
            </a:r>
            <a:r>
              <a:rPr/>
              <a:t> </a:t>
            </a:r>
            <a:r>
              <a:rPr/>
              <a:t>широким</a:t>
            </a:r>
            <a:r>
              <a:rPr/>
              <a:t> </a:t>
            </a:r>
            <a:r>
              <a:rPr/>
              <a:t>активом</a:t>
            </a:r>
            <a:r>
              <a:rPr/>
              <a:t> </a:t>
            </a:r>
            <a:r>
              <a:rPr/>
              <a:t>позволяет</a:t>
            </a:r>
            <a:r>
              <a:rPr/>
              <a:t> </a:t>
            </a:r>
            <a:r>
              <a:rPr/>
              <a:t>оценить</a:t>
            </a:r>
            <a:r>
              <a:rPr/>
              <a:t> </a:t>
            </a:r>
            <a:r>
              <a:rPr/>
              <a:t>значение</a:t>
            </a:r>
            <a:r>
              <a:rPr/>
              <a:t> </a:t>
            </a:r>
            <a:r>
              <a:rPr/>
              <a:t>систем</a:t>
            </a:r>
            <a:r>
              <a:rPr/>
              <a:t>  </a:t>
            </a:r>
            <a:r>
              <a:rPr/>
              <a:t>массового</a:t>
            </a:r>
            <a:r>
              <a:rPr/>
              <a:t> </a:t>
            </a:r>
            <a:r>
              <a:rPr/>
              <a:t>участия</a:t>
            </a:r>
            <a:r>
              <a:rPr/>
              <a:t>. </a:t>
            </a:r>
            <a:r>
              <a:rPr/>
              <a:t>С</a:t>
            </a:r>
            <a:r>
              <a:rPr/>
              <a:t> </a:t>
            </a:r>
            <a:r>
              <a:rPr/>
              <a:t>другой</a:t>
            </a:r>
            <a:r>
              <a:rPr/>
              <a:t> </a:t>
            </a:r>
            <a:r>
              <a:rPr/>
              <a:t>стороны</a:t>
            </a:r>
            <a:r>
              <a:rPr/>
              <a:t> </a:t>
            </a:r>
            <a:r>
              <a:rPr/>
              <a:t>рамки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место</a:t>
            </a:r>
            <a:r>
              <a:rPr/>
              <a:t> </a:t>
            </a:r>
            <a:r>
              <a:rPr/>
              <a:t>обучения</a:t>
            </a:r>
            <a:r>
              <a:rPr/>
              <a:t> </a:t>
            </a:r>
            <a:r>
              <a:rPr/>
              <a:t>кадров</a:t>
            </a:r>
            <a:r>
              <a:rPr/>
              <a:t> </a:t>
            </a:r>
            <a:r>
              <a:rPr/>
              <a:t>требуют</a:t>
            </a:r>
            <a:r>
              <a:rPr/>
              <a:t>  </a:t>
            </a:r>
            <a:r>
              <a:rPr/>
              <a:t>от</a:t>
            </a:r>
            <a:r>
              <a:rPr/>
              <a:t> </a:t>
            </a:r>
            <a:r>
              <a:rPr/>
              <a:t>нас</a:t>
            </a:r>
            <a:r>
              <a:rPr/>
              <a:t> </a:t>
            </a:r>
            <a:r>
              <a:rPr/>
              <a:t>анализа</a:t>
            </a:r>
            <a:r>
              <a:rPr/>
              <a:t> </a:t>
            </a:r>
            <a:r>
              <a:rPr/>
              <a:t>систем</a:t>
            </a:r>
            <a:r>
              <a:rPr/>
              <a:t> </a:t>
            </a:r>
            <a:r>
              <a:rPr/>
              <a:t>массового</a:t>
            </a:r>
            <a:r>
              <a:rPr/>
              <a:t> </a:t>
            </a:r>
            <a:r>
              <a:rPr/>
              <a:t>участия</a:t>
            </a:r>
            <a:r>
              <a:rPr/>
              <a:t>. </a:t>
            </a:r>
            <a:r>
              <a:rPr/>
              <a:t>Таким</a:t>
            </a:r>
            <a:r>
              <a:rPr/>
              <a:t> </a:t>
            </a:r>
            <a:r>
              <a:rPr/>
              <a:t>образом</a:t>
            </a:r>
            <a:r>
              <a:rPr/>
              <a:t> </a:t>
            </a:r>
            <a:r>
              <a:rPr/>
              <a:t>постоянное</a:t>
            </a:r>
            <a:r>
              <a:rPr/>
              <a:t>  </a:t>
            </a:r>
            <a:r>
              <a:rPr/>
              <a:t>информационно-пропагандистское</a:t>
            </a:r>
            <a:r>
              <a:rPr/>
              <a:t> </a:t>
            </a:r>
            <a:r>
              <a:rPr/>
              <a:t>обеспечение</a:t>
            </a:r>
            <a:r>
              <a:rPr/>
              <a:t> </a:t>
            </a:r>
            <a:r>
              <a:rPr/>
              <a:t>нашей</a:t>
            </a:r>
            <a:r>
              <a:rPr/>
              <a:t> </a:t>
            </a:r>
            <a:r>
              <a:rPr/>
              <a:t>деятельности</a:t>
            </a:r>
            <a:r>
              <a:rPr/>
              <a:t> </a:t>
            </a:r>
            <a:r>
              <a:rPr/>
              <a:t>играет</a:t>
            </a:r>
            <a:r>
              <a:rPr/>
              <a:t>  </a:t>
            </a:r>
            <a:r>
              <a:rPr/>
              <a:t>важную</a:t>
            </a:r>
            <a:r>
              <a:rPr/>
              <a:t> </a:t>
            </a:r>
            <a:r>
              <a:rPr/>
              <a:t>роль</a:t>
            </a:r>
            <a:r>
              <a:rPr/>
              <a:t> </a:t>
            </a:r>
            <a:r>
              <a:rPr/>
              <a:t>в</a:t>
            </a:r>
            <a:r>
              <a:rPr/>
              <a:t> </a:t>
            </a:r>
            <a:r>
              <a:rPr/>
              <a:t>формировании</a:t>
            </a:r>
            <a:r>
              <a:rPr/>
              <a:t> </a:t>
            </a:r>
            <a:r>
              <a:rPr/>
              <a:t>позиций</a:t>
            </a:r>
            <a:r>
              <a:rPr/>
              <a:t>, </a:t>
            </a:r>
            <a:r>
              <a:rPr/>
              <a:t>занимаемых</a:t>
            </a:r>
            <a:r>
              <a:rPr/>
              <a:t> </a:t>
            </a:r>
            <a:r>
              <a:rPr/>
              <a:t>участниками</a:t>
            </a:r>
            <a:r>
              <a:rPr/>
              <a:t> </a:t>
            </a:r>
            <a:r>
              <a:rPr/>
              <a:t>в</a:t>
            </a:r>
            <a:r>
              <a:rPr/>
              <a:t> </a:t>
            </a:r>
            <a:r>
              <a:rPr/>
              <a:t>отношении</a:t>
            </a:r>
            <a:r>
              <a:rPr/>
              <a:t> </a:t>
            </a:r>
            <a:r>
              <a:rPr/>
              <a:t>поставленных</a:t>
            </a:r>
            <a:r>
              <a:rPr/>
              <a:t> </a:t>
            </a:r>
            <a:r>
              <a:rPr/>
              <a:t>задач</a:t>
            </a:r>
            <a:endParaRPr/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С другой стороны рамки и место обучения кадров  требуют от нас анализа систем массового участия.</a:t>
            </a:r>
            <a:endParaRPr/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" name="object 7"/>
          <p:cNvSpPr/>
          <p:nvPr/>
        </p:nvSpPr>
        <p:spPr bwMode="auto">
          <a:xfrm>
            <a:off x="8643159" y="1860944"/>
            <a:ext cx="187244" cy="187631"/>
          </a:xfrm>
          <a:prstGeom prst="rect">
            <a:avLst/>
          </a:prstGeom>
          <a:blipFill>
            <a:blip r:embed="rId2"/>
            <a:stretch/>
          </a:blip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22" name="object 19"/>
          <p:cNvSpPr/>
          <p:nvPr/>
        </p:nvSpPr>
        <p:spPr bwMode="auto">
          <a:xfrm>
            <a:off x="8670465" y="5932990"/>
            <a:ext cx="503676" cy="5047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200" y="0"/>
                </a:moveTo>
                <a:lnTo>
                  <a:pt x="2400" y="0"/>
                </a:lnTo>
                <a:lnTo>
                  <a:pt x="1466" y="189"/>
                </a:lnTo>
                <a:lnTo>
                  <a:pt x="703" y="703"/>
                </a:lnTo>
                <a:lnTo>
                  <a:pt x="189" y="1466"/>
                </a:lnTo>
                <a:lnTo>
                  <a:pt x="0" y="2400"/>
                </a:lnTo>
                <a:lnTo>
                  <a:pt x="0" y="19200"/>
                </a:lnTo>
                <a:lnTo>
                  <a:pt x="189" y="20134"/>
                </a:lnTo>
                <a:lnTo>
                  <a:pt x="703" y="20897"/>
                </a:lnTo>
                <a:lnTo>
                  <a:pt x="1466" y="21411"/>
                </a:lnTo>
                <a:lnTo>
                  <a:pt x="2400" y="21600"/>
                </a:lnTo>
                <a:lnTo>
                  <a:pt x="19200" y="21600"/>
                </a:lnTo>
                <a:lnTo>
                  <a:pt x="20134" y="21411"/>
                </a:lnTo>
                <a:lnTo>
                  <a:pt x="20897" y="20897"/>
                </a:lnTo>
                <a:lnTo>
                  <a:pt x="21411" y="20134"/>
                </a:lnTo>
                <a:lnTo>
                  <a:pt x="21600" y="19200"/>
                </a:lnTo>
                <a:lnTo>
                  <a:pt x="21600" y="2400"/>
                </a:lnTo>
                <a:lnTo>
                  <a:pt x="21411" y="1466"/>
                </a:lnTo>
                <a:lnTo>
                  <a:pt x="20897" y="703"/>
                </a:lnTo>
                <a:lnTo>
                  <a:pt x="20134" y="189"/>
                </a:lnTo>
                <a:lnTo>
                  <a:pt x="19200" y="0"/>
                </a:lnTo>
                <a:close/>
              </a:path>
            </a:pathLst>
          </a:custGeom>
          <a:ln w="30294">
            <a:solidFill>
              <a:srgbClr val="FFFFFF"/>
            </a:solidFill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23" name="Рисунок 52"/>
          <p:cNvSpPr>
            <a:spLocks noGrp="1"/>
          </p:cNvSpPr>
          <p:nvPr>
            <p:ph type="pic" sz="quarter" idx="21"/>
          </p:nvPr>
        </p:nvSpPr>
        <p:spPr bwMode="auto">
          <a:xfrm>
            <a:off x="8275144" y="1608240"/>
            <a:ext cx="1354641" cy="1346195"/>
          </a:xfrm>
          <a:prstGeom prst="rect">
            <a:avLst/>
          </a:prstGeom>
        </p:spPr>
        <p:txBody>
          <a:bodyPr lIns="91439" rIns="91439"/>
          <a:lstStyle/>
          <a:p>
            <a:pPr>
              <a:defRPr/>
            </a:pPr>
            <a:endParaRPr/>
          </a:p>
        </p:txBody>
      </p:sp>
      <p:sp>
        <p:nvSpPr>
          <p:cNvPr id="424" name="Рисунок 52"/>
          <p:cNvSpPr>
            <a:spLocks noGrp="1"/>
          </p:cNvSpPr>
          <p:nvPr>
            <p:ph type="pic" sz="quarter" idx="22"/>
          </p:nvPr>
        </p:nvSpPr>
        <p:spPr bwMode="auto">
          <a:xfrm>
            <a:off x="8275144" y="3587279"/>
            <a:ext cx="1354641" cy="1346195"/>
          </a:xfrm>
          <a:prstGeom prst="rect">
            <a:avLst/>
          </a:prstGeom>
        </p:spPr>
        <p:txBody>
          <a:bodyPr lIns="91439" rIns="91439"/>
          <a:lstStyle/>
          <a:p>
            <a:pPr>
              <a:defRPr/>
            </a:pPr>
            <a:endParaRPr/>
          </a:p>
        </p:txBody>
      </p:sp>
      <p:sp>
        <p:nvSpPr>
          <p:cNvPr id="425" name="Рисунок 52"/>
          <p:cNvSpPr>
            <a:spLocks noGrp="1"/>
          </p:cNvSpPr>
          <p:nvPr>
            <p:ph type="pic" sz="quarter" idx="23"/>
          </p:nvPr>
        </p:nvSpPr>
        <p:spPr bwMode="auto">
          <a:xfrm>
            <a:off x="8275144" y="5639929"/>
            <a:ext cx="1354641" cy="1346195"/>
          </a:xfrm>
          <a:prstGeom prst="rect">
            <a:avLst/>
          </a:prstGeom>
        </p:spPr>
        <p:txBody>
          <a:bodyPr lIns="91439" rIns="91439"/>
          <a:lstStyle/>
          <a:p>
            <a:pPr>
              <a:defRPr/>
            </a:pPr>
            <a:endParaRPr/>
          </a:p>
        </p:txBody>
      </p:sp>
      <p:sp>
        <p:nvSpPr>
          <p:cNvPr id="426" name="Рисунок 52"/>
          <p:cNvSpPr>
            <a:spLocks noGrp="1"/>
          </p:cNvSpPr>
          <p:nvPr>
            <p:ph type="pic" sz="quarter" idx="24"/>
          </p:nvPr>
        </p:nvSpPr>
        <p:spPr bwMode="auto">
          <a:xfrm>
            <a:off x="8275144" y="7669355"/>
            <a:ext cx="1354641" cy="1346195"/>
          </a:xfrm>
          <a:prstGeom prst="rect">
            <a:avLst/>
          </a:prstGeom>
        </p:spPr>
        <p:txBody>
          <a:bodyPr lIns="91439" rIns="91439"/>
          <a:lstStyle/>
          <a:p>
            <a:pPr>
              <a:defRPr/>
            </a:pPr>
            <a:endParaRPr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fill="norm" stroke="1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 bwMode="auto"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fld id="{86CB4B4D-7CA3-9044-876B-883B54F8677D}" type="slidenum">
              <a:rPr lang="ru-RU"/>
              <a:t/>
            </a:fld>
            <a:endParaRPr lang="ru-RU"/>
          </a:p>
        </p:txBody>
      </p:sp>
      <p:sp>
        <p:nvSpPr>
          <p:cNvPr id="4" name="object 2"/>
          <p:cNvSpPr/>
          <p:nvPr userDrawn="1"/>
        </p:nvSpPr>
        <p:spPr bwMode="auto"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 bwMode="auto"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 fill="norm" stroke="1" extrusionOk="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3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436213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5300"/>
            </a:lvl1pPr>
            <a:lvl2pPr marL="1257056" indent="-514249">
              <a:buFontTx/>
              <a:defRPr sz="5300"/>
            </a:lvl2pPr>
            <a:lvl3pPr marL="2093359" indent="-607751">
              <a:buFontTx/>
              <a:defRPr sz="5300"/>
            </a:lvl3pPr>
            <a:lvl4pPr marL="2919991" indent="-691577">
              <a:buFontTx/>
              <a:defRPr sz="5300"/>
            </a:lvl4pPr>
            <a:lvl5pPr marL="3662797" indent="-691577">
              <a:buFontTx/>
              <a:defRPr sz="5300"/>
            </a:lvl5pPr>
          </a:lstStyle>
          <a:p>
            <a:pPr>
              <a:defRPr/>
            </a:pPr>
            <a:r>
              <a:rPr/>
              <a:t>01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76" name="Текст 28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882048" y="6832788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rPr/>
              <a:t>02</a:t>
            </a:r>
            <a:endParaRPr/>
          </a:p>
        </p:txBody>
      </p:sp>
      <p:sp>
        <p:nvSpPr>
          <p:cNvPr id="477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0392339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rPr/>
              <a:t>03</a:t>
            </a:r>
            <a:endParaRPr/>
          </a:p>
        </p:txBody>
      </p:sp>
      <p:sp>
        <p:nvSpPr>
          <p:cNvPr id="478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916983" y="687890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rPr/>
              <a:t>04</a:t>
            </a:r>
            <a:endParaRPr/>
          </a:p>
        </p:txBody>
      </p:sp>
      <p:sp>
        <p:nvSpPr>
          <p:cNvPr id="479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45637" y="3454938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</a:t>
            </a:r>
            <a:endParaRPr/>
          </a:p>
        </p:txBody>
      </p:sp>
      <p:sp>
        <p:nvSpPr>
          <p:cNvPr id="480" name="Текст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45637" y="417351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481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305434" y="6758364"/>
            <a:ext cx="4038572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 специалиста</a:t>
            </a:r>
            <a:endParaRPr/>
          </a:p>
        </p:txBody>
      </p:sp>
      <p:sp>
        <p:nvSpPr>
          <p:cNvPr id="482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305434" y="7476940"/>
            <a:ext cx="4038572" cy="1555757"/>
          </a:xfrm>
          <a:prstGeom prst="rect">
            <a:avLst/>
          </a:prstGeom>
        </p:spPr>
        <p:txBody>
          <a:bodyPr>
            <a:noAutofit/>
          </a:bodyPr>
          <a:lstStyle>
            <a:lvl1pPr marL="0" marR="386035" indent="12513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 выполнять важные задания по разработке</a:t>
            </a:r>
            <a:endParaRPr/>
          </a:p>
        </p:txBody>
      </p:sp>
      <p:sp>
        <p:nvSpPr>
          <p:cNvPr id="483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2532084" y="3184194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</a:t>
            </a:r>
            <a:endParaRPr/>
          </a:p>
        </p:txBody>
      </p:sp>
      <p:sp>
        <p:nvSpPr>
          <p:cNvPr id="484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532084" y="390277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485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806787" y="6764565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 двух специалистов</a:t>
            </a:r>
            <a:endParaRPr/>
          </a:p>
        </p:txBody>
      </p:sp>
      <p:sp>
        <p:nvSpPr>
          <p:cNvPr id="486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4806787" y="784343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" name="object 3"/>
          <p:cNvSpPr/>
          <p:nvPr/>
        </p:nvSpPr>
        <p:spPr bwMode="auto">
          <a:xfrm flipV="1">
            <a:off x="11329639" y="2135795"/>
            <a:ext cx="8480603" cy="903629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7" name="object 6"/>
          <p:cNvSpPr/>
          <p:nvPr/>
        </p:nvSpPr>
        <p:spPr bwMode="auto">
          <a:xfrm>
            <a:off x="12690940" y="9410295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8" name="object 8"/>
          <p:cNvSpPr/>
          <p:nvPr/>
        </p:nvSpPr>
        <p:spPr bwMode="auto">
          <a:xfrm>
            <a:off x="15080547" y="679242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9" name="object 10"/>
          <p:cNvSpPr/>
          <p:nvPr/>
        </p:nvSpPr>
        <p:spPr bwMode="auto">
          <a:xfrm>
            <a:off x="17544446" y="417454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fill="norm" stroke="1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22"/>
          </p:nvPr>
        </p:nvSpPr>
        <p:spPr bwMode="auto">
          <a:xfrm>
            <a:off x="4647668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23"/>
          </p:nvPr>
        </p:nvSpPr>
        <p:spPr bwMode="auto">
          <a:xfrm>
            <a:off x="8369496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1" name="Freeform 16"/>
          <p:cNvSpPr/>
          <p:nvPr userDrawn="1"/>
        </p:nvSpPr>
        <p:spPr bwMode="auto"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24"/>
          </p:nvPr>
        </p:nvSpPr>
        <p:spPr bwMode="auto"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3" name="Freeform 16"/>
          <p:cNvSpPr/>
          <p:nvPr userDrawn="1"/>
        </p:nvSpPr>
        <p:spPr bwMode="auto"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25"/>
          </p:nvPr>
        </p:nvSpPr>
        <p:spPr bwMode="auto"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 bwMode="auto"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fill="norm" stroke="1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161697" y="4167873"/>
            <a:ext cx="11037111" cy="1809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>
              <a:defRPr/>
            </a:pPr>
            <a:r>
              <a:rPr/>
              <a:t>Текст</a:t>
            </a:r>
            <a:r>
              <a:rPr/>
              <a:t> </a:t>
            </a:r>
            <a:r>
              <a:rPr/>
              <a:t>на</a:t>
            </a:r>
            <a:r>
              <a:rPr/>
              <a:t> </a:t>
            </a:r>
            <a:r>
              <a:rPr/>
              <a:t>отбивочном</a:t>
            </a:r>
            <a:r>
              <a:rPr/>
              <a:t> </a:t>
            </a:r>
            <a:r>
              <a:rPr/>
              <a:t>слайде</a:t>
            </a:r>
            <a:r>
              <a:rPr/>
              <a:t> </a:t>
            </a:r>
            <a:r>
              <a:rPr/>
              <a:t>вашей</a:t>
            </a:r>
            <a:r>
              <a:rPr/>
              <a:t>  </a:t>
            </a:r>
            <a:r>
              <a:rPr/>
              <a:t>презентации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208365" y="355058"/>
            <a:ext cx="3913200" cy="15326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3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3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 bwMode="auto"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95135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  <a:lvl2pPr marL="1076113" indent="-333310">
              <a:buFontTx/>
              <a:defRPr sz="3450"/>
            </a:lvl2pPr>
            <a:lvl3pPr marL="1879520" indent="-393913">
              <a:buFontTx/>
              <a:defRPr sz="3450"/>
            </a:lvl3pPr>
            <a:lvl4pPr marL="2676657" indent="-448243">
              <a:buFontTx/>
              <a:defRPr sz="3450"/>
            </a:lvl4pPr>
            <a:lvl5pPr marL="3419465" indent="-448245">
              <a:buFontTx/>
              <a:defRPr sz="3450"/>
            </a:lvl5pPr>
          </a:lstStyle>
          <a:p>
            <a:pPr>
              <a:defRPr/>
            </a:pPr>
            <a:r>
              <a:rPr/>
              <a:t>Развитие форм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71" name="Текст 2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135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rPr/>
              <a:t>Значимость этих  проблем настолько  очевидна, что начало  повседневной работы</a:t>
            </a:r>
            <a:endParaRPr/>
          </a:p>
        </p:txBody>
      </p:sp>
      <p:sp>
        <p:nvSpPr>
          <p:cNvPr id="672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867617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2</a:t>
            </a:r>
            <a:endParaRPr/>
          </a:p>
        </p:txBody>
      </p:sp>
      <p:sp>
        <p:nvSpPr>
          <p:cNvPr id="673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0589495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3</a:t>
            </a:r>
            <a:endParaRPr/>
          </a:p>
        </p:txBody>
      </p:sp>
      <p:sp>
        <p:nvSpPr>
          <p:cNvPr id="674" name="Текст 2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5161374" y="3846954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4</a:t>
            </a:r>
            <a:endParaRPr/>
          </a:p>
        </p:txBody>
      </p:sp>
      <p:sp>
        <p:nvSpPr>
          <p:cNvPr id="675" name="Текст 28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95128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/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676" name="Текст 2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867619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rPr/>
              <a:t>Форм</a:t>
            </a:r>
            <a:endParaRPr/>
          </a:p>
        </p:txBody>
      </p:sp>
      <p:sp>
        <p:nvSpPr>
          <p:cNvPr id="677" name="Текст 2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867619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rPr/>
              <a:t>Значимость этих  проблем настолько  очевидна, что начало  повседневной работы</a:t>
            </a:r>
            <a:endParaRPr/>
          </a:p>
        </p:txBody>
      </p:sp>
      <p:sp>
        <p:nvSpPr>
          <p:cNvPr id="678" name="Текст 2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627246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rPr/>
              <a:t>Развитие форм</a:t>
            </a:r>
            <a:endParaRPr/>
          </a:p>
        </p:txBody>
      </p:sp>
      <p:sp>
        <p:nvSpPr>
          <p:cNvPr id="679" name="Текст 2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0627246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rPr/>
              <a:t>Значимость этих  проблем настолько  очевидна, что начало  повседневной работы</a:t>
            </a:r>
            <a:endParaRPr/>
          </a:p>
        </p:txBody>
      </p:sp>
      <p:sp>
        <p:nvSpPr>
          <p:cNvPr id="680" name="Текст 2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5161382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rPr/>
              <a:t>Развитие форм</a:t>
            </a:r>
            <a:endParaRPr/>
          </a:p>
        </p:txBody>
      </p:sp>
      <p:sp>
        <p:nvSpPr>
          <p:cNvPr id="681" name="Текст 2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161382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rPr/>
              <a:t>Значимость этих  проблем настолько  очевидна, что начало  повседневной работы</a:t>
            </a:r>
            <a:endParaRPr/>
          </a:p>
        </p:txBody>
      </p:sp>
      <p:sp>
        <p:nvSpPr>
          <p:cNvPr id="683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2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814905" y="2748703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50">
                <a:solidFill>
                  <a:srgbClr val="282828"/>
                </a:solidFill>
              </a:defRPr>
            </a:lvl1pPr>
            <a:lvl2pPr marL="999931" indent="-25712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2pPr>
            <a:lvl3pPr marL="1789484" indent="-30387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3pPr>
            <a:lvl4pPr marL="2574202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4pPr>
            <a:lvl5pPr marL="3317009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rPr/>
              <a:t>Консультация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29" name="Текст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814905" y="3467280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730" name="Текст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814905" y="7790442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rPr/>
              <a:t>Консультация двух специалистов</a:t>
            </a:r>
            <a:endParaRPr/>
          </a:p>
        </p:txBody>
      </p:sp>
      <p:sp>
        <p:nvSpPr>
          <p:cNvPr id="731" name="Текст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814905" y="886930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732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691679" y="4695468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</a:t>
            </a:r>
            <a:br>
              <a:rPr/>
            </a:br>
            <a:r>
              <a:rPr/>
              <a:t>и место обучения</a:t>
            </a:r>
            <a:endParaRPr/>
          </a:p>
        </p:txBody>
      </p:sp>
      <p:sp>
        <p:nvSpPr>
          <p:cNvPr id="733" name="Текст 4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91679" y="3531100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rPr/>
              <a:t>Консультация двух      специалистов</a:t>
            </a:r>
            <a:endParaRPr/>
          </a:p>
        </p:txBody>
      </p:sp>
      <p:sp>
        <p:nvSpPr>
          <p:cNvPr id="734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442818" y="8972232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</a:t>
            </a:r>
            <a:br>
              <a:rPr/>
            </a:br>
            <a:r>
              <a:rPr/>
              <a:t>и место обучения</a:t>
            </a:r>
            <a:endParaRPr/>
          </a:p>
        </p:txBody>
      </p:sp>
      <p:sp>
        <p:nvSpPr>
          <p:cNvPr id="735" name="Текст 4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42818" y="7807861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rPr/>
              <a:t>Консультация двух      специалистов</a:t>
            </a:r>
            <a:endParaRPr/>
          </a:p>
        </p:txBody>
      </p:sp>
      <p:sp>
        <p:nvSpPr>
          <p:cNvPr id="736" name="Текст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523171" y="3556889"/>
            <a:ext cx="1156271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rPr/>
              <a:t>75%</a:t>
            </a:r>
            <a:endParaRPr/>
          </a:p>
        </p:txBody>
      </p:sp>
      <p:sp>
        <p:nvSpPr>
          <p:cNvPr id="737" name="Текст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482498" y="467794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rPr/>
              <a:t>15%</a:t>
            </a:r>
            <a:endParaRPr/>
          </a:p>
        </p:txBody>
      </p:sp>
      <p:sp>
        <p:nvSpPr>
          <p:cNvPr id="738" name="Текст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740103" y="8234913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rPr/>
              <a:t>15%</a:t>
            </a:r>
            <a:endParaRPr/>
          </a:p>
        </p:txBody>
      </p:sp>
      <p:sp>
        <p:nvSpPr>
          <p:cNvPr id="739" name="Текст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362678" y="789936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rPr/>
              <a:t>15%</a:t>
            </a:r>
            <a:endParaRPr/>
          </a:p>
        </p:txBody>
      </p:sp>
      <p:sp>
        <p:nvSpPr>
          <p:cNvPr id="741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800853" y="5377808"/>
            <a:ext cx="13859510" cy="4134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10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Holder 2"/>
          <p:cNvSpPr txBox="1"/>
          <p:nvPr userDrawn="1"/>
        </p:nvSpPr>
        <p:spPr bwMode="auto">
          <a:xfrm>
            <a:off x="895734" y="661998"/>
            <a:ext cx="17106569" cy="111959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>
                <a:solidFill>
                  <a:srgbClr val="1A1919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pPr>
              <a:defRPr/>
            </a:pPr>
            <a:r>
              <a:rPr/>
              <a:t>Заголовок</a:t>
            </a:r>
            <a:r>
              <a:rPr/>
              <a:t> </a:t>
            </a:r>
            <a:r>
              <a:rPr/>
              <a:t>слайда</a:t>
            </a:r>
            <a:r>
              <a:rPr/>
              <a:t>  </a:t>
            </a:r>
            <a:r>
              <a:rPr/>
              <a:t>вашей</a:t>
            </a:r>
            <a:r>
              <a:rPr/>
              <a:t> </a:t>
            </a:r>
            <a:r>
              <a:rPr/>
              <a:t>презентации</a:t>
            </a:r>
            <a:endParaRPr/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 bwMode="auto"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alphaModFix/>
          </a:blip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/>
          <a:srcRect l="0" t="0" r="11256" b="18587"/>
          <a:stretch/>
        </p:blipFill>
        <p:spPr bwMode="auto"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fill="norm" stroke="1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08465" y="347498"/>
            <a:ext cx="3888000" cy="1522801"/>
          </a:xfrm>
          <a:prstGeom prst="rect">
            <a:avLst/>
          </a:prstGeom>
        </p:spPr>
      </p:pic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Title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4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5" y="-7289"/>
            <a:ext cx="7925031" cy="10448277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602995 w 4648201"/>
              <a:gd name="connsiteY4" fmla="*/ 5544307 h 5567081"/>
              <a:gd name="connsiteX5" fmla="*/ 0 w 4648201"/>
              <a:gd name="connsiteY5" fmla="*/ 0 h 5567081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53839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91526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86142 w 4099045"/>
              <a:gd name="connsiteY4" fmla="*/ 5561389 h 5578469"/>
              <a:gd name="connsiteX5" fmla="*/ 0 w 4099045"/>
              <a:gd name="connsiteY5" fmla="*/ 0 h 5578469"/>
              <a:gd name="connsiteX0" fmla="*/ 247659 w 4012903"/>
              <a:gd name="connsiteY0" fmla="*/ 0 h 5578469"/>
              <a:gd name="connsiteX1" fmla="*/ 4012903 w 4012903"/>
              <a:gd name="connsiteY1" fmla="*/ 11388 h 5578469"/>
              <a:gd name="connsiteX2" fmla="*/ 4012903 w 4012903"/>
              <a:gd name="connsiteY2" fmla="*/ 4562449 h 5578469"/>
              <a:gd name="connsiteX3" fmla="*/ 2996883 w 4012903"/>
              <a:gd name="connsiteY3" fmla="*/ 5578469 h 5578469"/>
              <a:gd name="connsiteX4" fmla="*/ 0 w 4012903"/>
              <a:gd name="connsiteY4" fmla="*/ 5561389 h 5578469"/>
              <a:gd name="connsiteX5" fmla="*/ 247659 w 4012903"/>
              <a:gd name="connsiteY5" fmla="*/ 0 h 5578469"/>
              <a:gd name="connsiteX0" fmla="*/ 1 w 4012903"/>
              <a:gd name="connsiteY0" fmla="*/ 0 h 5584163"/>
              <a:gd name="connsiteX1" fmla="*/ 4012903 w 4012903"/>
              <a:gd name="connsiteY1" fmla="*/ 17082 h 5584163"/>
              <a:gd name="connsiteX2" fmla="*/ 4012903 w 4012903"/>
              <a:gd name="connsiteY2" fmla="*/ 4568143 h 5584163"/>
              <a:gd name="connsiteX3" fmla="*/ 2996883 w 4012903"/>
              <a:gd name="connsiteY3" fmla="*/ 5584163 h 5584163"/>
              <a:gd name="connsiteX4" fmla="*/ 0 w 4012903"/>
              <a:gd name="connsiteY4" fmla="*/ 5567083 h 5584163"/>
              <a:gd name="connsiteX5" fmla="*/ 1 w 4012903"/>
              <a:gd name="connsiteY5" fmla="*/ 0 h 5584163"/>
              <a:gd name="connsiteX0" fmla="*/ 0 w 4018286"/>
              <a:gd name="connsiteY0" fmla="*/ 130951 h 5567081"/>
              <a:gd name="connsiteX1" fmla="*/ 4018286 w 4018286"/>
              <a:gd name="connsiteY1" fmla="*/ 0 h 5567081"/>
              <a:gd name="connsiteX2" fmla="*/ 4018286 w 4018286"/>
              <a:gd name="connsiteY2" fmla="*/ 4551061 h 5567081"/>
              <a:gd name="connsiteX3" fmla="*/ 3002266 w 4018286"/>
              <a:gd name="connsiteY3" fmla="*/ 5567081 h 5567081"/>
              <a:gd name="connsiteX4" fmla="*/ 5383 w 4018286"/>
              <a:gd name="connsiteY4" fmla="*/ 5550001 h 5567081"/>
              <a:gd name="connsiteX5" fmla="*/ 0 w 4018286"/>
              <a:gd name="connsiteY5" fmla="*/ 130951 h 5567081"/>
              <a:gd name="connsiteX0" fmla="*/ 5385 w 4012903"/>
              <a:gd name="connsiteY0" fmla="*/ 11387 h 5567081"/>
              <a:gd name="connsiteX1" fmla="*/ 4012903 w 4012903"/>
              <a:gd name="connsiteY1" fmla="*/ 0 h 5567081"/>
              <a:gd name="connsiteX2" fmla="*/ 4012903 w 4012903"/>
              <a:gd name="connsiteY2" fmla="*/ 4551061 h 5567081"/>
              <a:gd name="connsiteX3" fmla="*/ 2996883 w 4012903"/>
              <a:gd name="connsiteY3" fmla="*/ 5567081 h 5567081"/>
              <a:gd name="connsiteX4" fmla="*/ 0 w 4012903"/>
              <a:gd name="connsiteY4" fmla="*/ 5550001 h 5567081"/>
              <a:gd name="connsiteX5" fmla="*/ 5385 w 4012903"/>
              <a:gd name="connsiteY5" fmla="*/ 11387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2903" h="5567081" fill="norm" stroke="1" extrusionOk="0">
                <a:moveTo>
                  <a:pt x="5385" y="11387"/>
                </a:moveTo>
                <a:lnTo>
                  <a:pt x="4012903" y="0"/>
                </a:lnTo>
                <a:lnTo>
                  <a:pt x="4012903" y="4551061"/>
                </a:lnTo>
                <a:cubicBezTo>
                  <a:pt x="4012903" y="5112193"/>
                  <a:pt x="3558015" y="5567081"/>
                  <a:pt x="2996883" y="5567081"/>
                </a:cubicBezTo>
                <a:lnTo>
                  <a:pt x="0" y="5550001"/>
                </a:lnTo>
                <a:cubicBezTo>
                  <a:pt x="0" y="3694307"/>
                  <a:pt x="5385" y="1867081"/>
                  <a:pt x="5385" y="1138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lIns="0" rIns="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Мультимедиа 4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4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628598" y="3056311"/>
            <a:ext cx="5358009" cy="5369084"/>
          </a:xfrm>
          <a:custGeom>
            <a:avLst/>
            <a:gdLst>
              <a:gd name="connsiteX0" fmla="*/ 1649675 w 3299350"/>
              <a:gd name="connsiteY0" fmla="*/ 0 h 3299352"/>
              <a:gd name="connsiteX1" fmla="*/ 3299350 w 3299350"/>
              <a:gd name="connsiteY1" fmla="*/ 1649676 h 3299352"/>
              <a:gd name="connsiteX2" fmla="*/ 1649675 w 3299350"/>
              <a:gd name="connsiteY2" fmla="*/ 3299352 h 3299352"/>
              <a:gd name="connsiteX3" fmla="*/ 0 w 3299350"/>
              <a:gd name="connsiteY3" fmla="*/ 1649676 h 3299352"/>
              <a:gd name="connsiteX4" fmla="*/ 1649675 w 3299350"/>
              <a:gd name="connsiteY4" fmla="*/ 0 h 329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350" h="3299352" fill="norm" stroke="1" extrusionOk="0">
                <a:moveTo>
                  <a:pt x="1649675" y="0"/>
                </a:moveTo>
                <a:cubicBezTo>
                  <a:pt x="2560765" y="0"/>
                  <a:pt x="3299350" y="738585"/>
                  <a:pt x="3299350" y="1649676"/>
                </a:cubicBezTo>
                <a:cubicBezTo>
                  <a:pt x="3299350" y="2560767"/>
                  <a:pt x="2560765" y="3299352"/>
                  <a:pt x="1649675" y="3299352"/>
                </a:cubicBezTo>
                <a:cubicBezTo>
                  <a:pt x="738585" y="3299352"/>
                  <a:pt x="0" y="2560767"/>
                  <a:pt x="0" y="1649676"/>
                </a:cubicBezTo>
                <a:cubicBezTo>
                  <a:pt x="0" y="738585"/>
                  <a:pt x="738585" y="0"/>
                  <a:pt x="1649675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 sz="1950"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4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 bwMode="auto">
          <a:xfrm>
            <a:off x="7034197" y="1043019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 bwMode="auto">
          <a:xfrm>
            <a:off x="7034197" y="582229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 bwMode="auto">
          <a:xfrm>
            <a:off x="11087388" y="547014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 bwMode="auto">
          <a:xfrm>
            <a:off x="11087388" y="5326286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 bwMode="auto">
          <a:xfrm>
            <a:off x="15140584" y="1048410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5"/>
          </p:nvPr>
        </p:nvSpPr>
        <p:spPr bwMode="auto">
          <a:xfrm>
            <a:off x="15140584" y="582768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fill="norm" stroke="1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5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 bwMode="auto">
          <a:xfrm>
            <a:off x="2351167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5"/>
          </p:nvPr>
        </p:nvSpPr>
        <p:spPr bwMode="auto">
          <a:xfrm>
            <a:off x="6503109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0655051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 bwMode="auto">
          <a:xfrm>
            <a:off x="14806992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2351167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6503109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2"/>
          </p:nvPr>
        </p:nvSpPr>
        <p:spPr bwMode="auto">
          <a:xfrm>
            <a:off x="10655051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 bwMode="auto">
          <a:xfrm>
            <a:off x="14806992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5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7474406" y="50143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2021924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7478932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2935941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>
          <a:xfrm>
            <a:off x="31433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 bwMode="auto">
          <a:xfrm>
            <a:off x="86211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 bwMode="auto">
          <a:xfrm>
            <a:off x="14057328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auto">
          <a:xfrm>
            <a:off x="31433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86211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9"/>
          </p:nvPr>
        </p:nvSpPr>
        <p:spPr bwMode="auto">
          <a:xfrm>
            <a:off x="14057328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" name="Picture Placeholder 58"/>
          <p:cNvSpPr>
            <a:spLocks noGrp="1"/>
          </p:cNvSpPr>
          <p:nvPr>
            <p:ph type="pic" sz="quarter" idx="20"/>
          </p:nvPr>
        </p:nvSpPr>
        <p:spPr bwMode="auto">
          <a:xfrm>
            <a:off x="31433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21"/>
          </p:nvPr>
        </p:nvSpPr>
        <p:spPr bwMode="auto">
          <a:xfrm>
            <a:off x="86211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" name="Picture Placeholder 60"/>
          <p:cNvSpPr>
            <a:spLocks noGrp="1"/>
          </p:cNvSpPr>
          <p:nvPr>
            <p:ph type="pic" sz="quarter" idx="22"/>
          </p:nvPr>
        </p:nvSpPr>
        <p:spPr bwMode="auto">
          <a:xfrm>
            <a:off x="14057328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fill="norm" stroke="1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742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748661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745800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2227426" y="5738272"/>
            <a:ext cx="10085268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2745800" y="5738272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770917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3434832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107005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5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2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 bwMode="auto">
          <a:xfrm>
            <a:off x="3031768" y="2790031"/>
            <a:ext cx="6063536" cy="5580062"/>
          </a:xfrm>
          <a:prstGeom prst="rect">
            <a:avLst/>
          </a:prstGeom>
          <a:solidFill>
            <a:schemeClr val="accent4"/>
          </a:solidFill>
          <a:effectLst>
            <a:outerShdw blurRad="1244600" dist="787400" dir="5400000" algn="t" rotWithShape="0">
              <a:srgbClr val="002060">
                <a:alpha val="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60_Custom Layout">
    <p:bg>
      <p:bgPr shadeToTitle="0">
        <a:solidFill>
          <a:schemeClr val="accent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 bwMode="auto">
          <a:xfrm>
            <a:off x="4944875" y="0"/>
            <a:ext cx="4954775" cy="5559145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 bwMode="auto">
          <a:xfrm>
            <a:off x="4944875" y="5580062"/>
            <a:ext cx="4944875" cy="5580062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 bwMode="auto">
          <a:xfrm>
            <a:off x="9909552" y="-10478"/>
            <a:ext cx="4925074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4854424" y="5590541"/>
            <a:ext cx="4944875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6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612971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13239689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13239689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6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 bwMode="auto">
          <a:xfrm>
            <a:off x="14854424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 bwMode="auto">
          <a:xfrm>
            <a:off x="989965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 bwMode="auto">
          <a:xfrm>
            <a:off x="4954775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fill="norm" stroke="1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6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 bwMode="auto">
          <a:xfrm>
            <a:off x="14950946" y="-415404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5107395" y="-341003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 bwMode="auto">
          <a:xfrm>
            <a:off x="185619" y="700607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 bwMode="auto">
          <a:xfrm>
            <a:off x="5107395" y="514605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 bwMode="auto">
          <a:xfrm>
            <a:off x="10029170" y="-2294026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/>
          </p:nvPr>
        </p:nvSpPr>
        <p:spPr bwMode="auto">
          <a:xfrm>
            <a:off x="10029170" y="6262070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7"/>
          </p:nvPr>
        </p:nvSpPr>
        <p:spPr bwMode="auto">
          <a:xfrm>
            <a:off x="14950946" y="4402049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 bwMode="auto">
          <a:xfrm>
            <a:off x="185619" y="-155001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fill="norm" stroke="1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grpSp>
        <p:nvGrpSpPr>
          <p:cNvPr id="3" name="Graphic 5"/>
          <p:cNvGrpSpPr/>
          <p:nvPr userDrawn="1"/>
        </p:nvGrpSpPr>
        <p:grpSpPr bwMode="auto">
          <a:xfrm>
            <a:off x="15385500" y="2415128"/>
            <a:ext cx="3451120" cy="7065487"/>
            <a:chOff x="2467676" y="1835148"/>
            <a:chExt cx="1560218" cy="3187699"/>
          </a:xfrm>
          <a:gradFill>
            <a:gsLst>
              <a:gs pos="0">
                <a:srgbClr val="67696F"/>
              </a:gs>
              <a:gs pos="100000">
                <a:srgbClr val="48494B"/>
              </a:gs>
            </a:gsLst>
            <a:lin ang="2700000" scaled="0"/>
          </a:gradFill>
        </p:grpSpPr>
        <p:sp>
          <p:nvSpPr>
            <p:cNvPr id="4" name="Freeform 16"/>
            <p:cNvSpPr/>
            <p:nvPr/>
          </p:nvSpPr>
          <p:spPr bwMode="auto">
            <a:xfrm>
              <a:off x="2467676" y="1835148"/>
              <a:ext cx="1560218" cy="3187699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fill="norm" stroke="1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2564260" y="1932016"/>
              <a:ext cx="1367148" cy="2994343"/>
            </a:xfrm>
            <a:custGeom>
              <a:avLst/>
              <a:gdLst>
                <a:gd name="connsiteX0" fmla="*/ 1367170 w 1367170"/>
                <a:gd name="connsiteY0" fmla="*/ 142257 h 2994344"/>
                <a:gd name="connsiteX1" fmla="*/ 1367170 w 1367170"/>
                <a:gd name="connsiteY1" fmla="*/ 2851612 h 2994344"/>
                <a:gd name="connsiteX2" fmla="*/ 1224855 w 1367170"/>
                <a:gd name="connsiteY2" fmla="*/ 2994345 h 2994344"/>
                <a:gd name="connsiteX3" fmla="*/ 141840 w 1367170"/>
                <a:gd name="connsiteY3" fmla="*/ 2994345 h 2994344"/>
                <a:gd name="connsiteX4" fmla="*/ 0 w 1367170"/>
                <a:gd name="connsiteY4" fmla="*/ 2851612 h 2994344"/>
                <a:gd name="connsiteX5" fmla="*/ 0 w 1367170"/>
                <a:gd name="connsiteY5" fmla="*/ 142257 h 2994344"/>
                <a:gd name="connsiteX6" fmla="*/ 142315 w 1367170"/>
                <a:gd name="connsiteY6" fmla="*/ 0 h 2994344"/>
                <a:gd name="connsiteX7" fmla="*/ 267836 w 1367170"/>
                <a:gd name="connsiteY7" fmla="*/ 0 h 2994344"/>
                <a:gd name="connsiteX8" fmla="*/ 294028 w 1367170"/>
                <a:gd name="connsiteY8" fmla="*/ 26257 h 2994344"/>
                <a:gd name="connsiteX9" fmla="*/ 294022 w 1367170"/>
                <a:gd name="connsiteY9" fmla="*/ 26834 h 2994344"/>
                <a:gd name="connsiteX10" fmla="*/ 294022 w 1367170"/>
                <a:gd name="connsiteY10" fmla="*/ 26834 h 2994344"/>
                <a:gd name="connsiteX11" fmla="*/ 376944 w 1367170"/>
                <a:gd name="connsiteY11" fmla="*/ 109333 h 2994344"/>
                <a:gd name="connsiteX12" fmla="*/ 993641 w 1367170"/>
                <a:gd name="connsiteY12" fmla="*/ 109333 h 2994344"/>
                <a:gd name="connsiteX13" fmla="*/ 1076184 w 1367170"/>
                <a:gd name="connsiteY13" fmla="*/ 26834 h 2994344"/>
                <a:gd name="connsiteX14" fmla="*/ 1076184 w 1367170"/>
                <a:gd name="connsiteY14" fmla="*/ 26834 h 2994344"/>
                <a:gd name="connsiteX15" fmla="*/ 1102370 w 1367170"/>
                <a:gd name="connsiteY15" fmla="*/ 476 h 2994344"/>
                <a:gd name="connsiteX16" fmla="*/ 1225709 w 1367170"/>
                <a:gd name="connsiteY16" fmla="*/ 476 h 2994344"/>
                <a:gd name="connsiteX17" fmla="*/ 1367170 w 1367170"/>
                <a:gd name="connsiteY17" fmla="*/ 142257 h 29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67170" h="2994344" fill="norm" stroke="1" extrusionOk="0">
                  <a:moveTo>
                    <a:pt x="1367170" y="142257"/>
                  </a:moveTo>
                  <a:lnTo>
                    <a:pt x="1367170" y="2851612"/>
                  </a:lnTo>
                  <a:cubicBezTo>
                    <a:pt x="1367170" y="2930441"/>
                    <a:pt x="1303453" y="2994345"/>
                    <a:pt x="1224855" y="2994345"/>
                  </a:cubicBezTo>
                  <a:lnTo>
                    <a:pt x="141840" y="2994345"/>
                  </a:lnTo>
                  <a:cubicBezTo>
                    <a:pt x="63427" y="2994082"/>
                    <a:pt x="0" y="2930255"/>
                    <a:pt x="0" y="2851612"/>
                  </a:cubicBezTo>
                  <a:lnTo>
                    <a:pt x="0" y="142257"/>
                  </a:lnTo>
                  <a:cubicBezTo>
                    <a:pt x="261" y="63614"/>
                    <a:pt x="63901" y="0"/>
                    <a:pt x="142315" y="0"/>
                  </a:cubicBezTo>
                  <a:lnTo>
                    <a:pt x="267836" y="0"/>
                  </a:lnTo>
                  <a:cubicBezTo>
                    <a:pt x="282298" y="-3"/>
                    <a:pt x="294025" y="11752"/>
                    <a:pt x="294028" y="26257"/>
                  </a:cubicBezTo>
                  <a:cubicBezTo>
                    <a:pt x="294028" y="26449"/>
                    <a:pt x="294026" y="26641"/>
                    <a:pt x="294022" y="26834"/>
                  </a:cubicBezTo>
                  <a:lnTo>
                    <a:pt x="294022" y="26834"/>
                  </a:lnTo>
                  <a:cubicBezTo>
                    <a:pt x="294283" y="72548"/>
                    <a:pt x="331363" y="109439"/>
                    <a:pt x="376944" y="109333"/>
                  </a:cubicBezTo>
                  <a:lnTo>
                    <a:pt x="993641" y="109333"/>
                  </a:lnTo>
                  <a:cubicBezTo>
                    <a:pt x="1039074" y="109230"/>
                    <a:pt x="1075923" y="72400"/>
                    <a:pt x="1076184" y="26834"/>
                  </a:cubicBezTo>
                  <a:lnTo>
                    <a:pt x="1076184" y="26834"/>
                  </a:lnTo>
                  <a:cubicBezTo>
                    <a:pt x="1076184" y="12314"/>
                    <a:pt x="1087892" y="528"/>
                    <a:pt x="1102370" y="476"/>
                  </a:cubicBezTo>
                  <a:lnTo>
                    <a:pt x="1225709" y="476"/>
                  </a:lnTo>
                  <a:cubicBezTo>
                    <a:pt x="1303605" y="943"/>
                    <a:pt x="1366652" y="64133"/>
                    <a:pt x="1367170" y="142257"/>
                  </a:cubicBezTo>
                  <a:close/>
                </a:path>
              </a:pathLst>
            </a:custGeom>
            <a:grpFill/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6" name="Freeform 16"/>
          <p:cNvSpPr/>
          <p:nvPr userDrawn="1"/>
        </p:nvSpPr>
        <p:spPr bwMode="auto">
          <a:xfrm>
            <a:off x="11302952" y="16795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11523579" y="18938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1"/>
          </p:nvPr>
        </p:nvSpPr>
        <p:spPr bwMode="auto">
          <a:xfrm>
            <a:off x="15615949" y="262941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grpSp>
        <p:nvGrpSpPr>
          <p:cNvPr id="3" name="Group 46"/>
          <p:cNvGrpSpPr/>
          <p:nvPr userDrawn="1"/>
        </p:nvGrpSpPr>
        <p:grpSpPr bwMode="auto">
          <a:xfrm>
            <a:off x="10135714" y="2327985"/>
            <a:ext cx="7401341" cy="4558908"/>
            <a:chOff x="4902604" y="891789"/>
            <a:chExt cx="5245287" cy="3224206"/>
          </a:xfrm>
        </p:grpSpPr>
        <p:sp>
          <p:nvSpPr>
            <p:cNvPr id="4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fill="norm" stroke="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fill="norm" stroke="1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6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fill="norm" stroke="1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7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fill="norm" stroke="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8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fill="norm" stroke="1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9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fill="norm" stroke="1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0" name="Picture Placeholder 3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821890" y="2593572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fill="norm" stroke="1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  <p:grpSp>
        <p:nvGrpSpPr>
          <p:cNvPr id="11" name="Group 46"/>
          <p:cNvGrpSpPr/>
          <p:nvPr userDrawn="1"/>
        </p:nvGrpSpPr>
        <p:grpSpPr bwMode="auto">
          <a:xfrm>
            <a:off x="2262613" y="5286338"/>
            <a:ext cx="7401341" cy="4558908"/>
            <a:chOff x="4902604" y="891789"/>
            <a:chExt cx="5245287" cy="3224206"/>
          </a:xfrm>
        </p:grpSpPr>
        <p:sp>
          <p:nvSpPr>
            <p:cNvPr id="12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fill="norm" stroke="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3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fill="norm" stroke="1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14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fill="norm" stroke="1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5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fill="norm" stroke="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6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fill="norm" stroke="1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7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fill="norm" stroke="1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8" name="Picture Placeholder 3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948789" y="5551925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fill="norm" stroke="1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3" name="Rectangle 112"/>
          <p:cNvSpPr/>
          <p:nvPr userDrawn="1"/>
        </p:nvSpPr>
        <p:spPr bwMode="auto">
          <a:xfrm>
            <a:off x="8700189" y="11520"/>
            <a:ext cx="4291596" cy="7968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352744" y="5410269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73371" y="562455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11362658" y="2026990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4"/>
          </p:nvPr>
        </p:nvSpPr>
        <p:spPr bwMode="auto">
          <a:xfrm>
            <a:off x="11583285" y="224127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15392950" y="-14660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 bwMode="auto">
          <a:xfrm>
            <a:off x="15613577" y="-125173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/>
          <p:cNvSpPr/>
          <p:nvPr userDrawn="1"/>
        </p:nvSpPr>
        <p:spPr bwMode="auto">
          <a:xfrm>
            <a:off x="11310047" y="5643658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Rectangle: Rounded Corners 5"/>
          <p:cNvSpPr/>
          <p:nvPr userDrawn="1"/>
        </p:nvSpPr>
        <p:spPr bwMode="auto">
          <a:xfrm>
            <a:off x="11310047" y="2088982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3"/>
          </a:solidFill>
          <a:ln>
            <a:noFill/>
          </a:ln>
          <a:effectLst>
            <a:outerShdw blurRad="838200" dist="381000" dir="5400000" sx="95000" sy="95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7282744" y="1427270"/>
            <a:ext cx="4131146" cy="8457709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fill="norm" stroke="1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46843" y="1683779"/>
            <a:ext cx="3602948" cy="7944690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35_Custom Layou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899650" y="2"/>
            <a:ext cx="9899650" cy="11160125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 fill="norm" stroke="1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/>
              <a:t>Image Placeholder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DEFAUL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 bwMode="auto"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 bwMode="auto"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 bwMode="auto"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 bwMode="auto"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 bwMode="auto"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 bwMode="auto"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50"/>
            </a:lvl1pPr>
            <a:lvl2pPr marL="914219" indent="-171416">
              <a:buFontTx/>
              <a:defRPr sz="1750"/>
            </a:lvl2pPr>
            <a:lvl3pPr marL="1688192" indent="-202584">
              <a:buFontTx/>
              <a:defRPr sz="1750"/>
            </a:lvl3pPr>
            <a:lvl4pPr marL="2458939" indent="-230524">
              <a:buFontTx/>
              <a:defRPr sz="1750"/>
            </a:lvl4pPr>
            <a:lvl5pPr marL="3201744" indent="-230524">
              <a:buFontTx/>
              <a:defRPr sz="1750"/>
            </a:lvl5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5447895" y="5582374"/>
            <a:ext cx="3587374" cy="1473098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 выполнить важные задания по разработке</a:t>
            </a:r>
            <a:endParaRPr/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 и место обучения кадров позволяет</a:t>
            </a:r>
            <a:endParaRPr/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</a:t>
            </a:r>
            <a:br>
              <a:rPr/>
            </a:br>
            <a:r>
              <a:rPr/>
              <a:t>и место обучения кадров позволяет</a:t>
            </a:r>
            <a:endParaRPr/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 и место обучения кадров позволяет</a:t>
            </a:r>
            <a:endParaRPr/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rPr/>
              <a:t>Разнообразный и богатый опыт рамки</a:t>
            </a:r>
            <a:br>
              <a:rPr/>
            </a:br>
            <a:r>
              <a:rPr/>
              <a:t>и место обучения кадров позволяет</a:t>
            </a:r>
            <a:endParaRPr/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rPr/>
              <a:t>Заголовок слайда вашей презентации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8_Пользовательский макет">
    <p:bg>
      <p:bgPr shadeToTitle="0">
        <a:solidFill>
          <a:srgbClr val="FFFFFF">
            <a:alpha val="77000"/>
          </a:srgb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 bwMode="auto">
          <a:xfrm>
            <a:off x="6432884" y="0"/>
            <a:ext cx="6858000" cy="11160125"/>
          </a:xfrm>
          <a:custGeom>
            <a:avLst/>
            <a:gdLst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48126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11133093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16098"/>
              <a:gd name="connsiteY0" fmla="*/ 1230189 h 11160125"/>
              <a:gd name="connsiteX1" fmla="*/ 0 w 7216098"/>
              <a:gd name="connsiteY1" fmla="*/ 0 h 11160125"/>
              <a:gd name="connsiteX2" fmla="*/ 7216098 w 7216098"/>
              <a:gd name="connsiteY2" fmla="*/ 5542 h 11160125"/>
              <a:gd name="connsiteX3" fmla="*/ 7209295 w 7216098"/>
              <a:gd name="connsiteY3" fmla="*/ 1230189 h 11160125"/>
              <a:gd name="connsiteX4" fmla="*/ 7209295 w 7216098"/>
              <a:gd name="connsiteY4" fmla="*/ 11133093 h 11160125"/>
              <a:gd name="connsiteX5" fmla="*/ 5979106 w 7216098"/>
              <a:gd name="connsiteY5" fmla="*/ 11160125 h 11160125"/>
              <a:gd name="connsiteX6" fmla="*/ 1251284 w 7216098"/>
              <a:gd name="connsiteY6" fmla="*/ 11160125 h 11160125"/>
              <a:gd name="connsiteX7" fmla="*/ 21095 w 7216098"/>
              <a:gd name="connsiteY7" fmla="*/ 9929936 h 11160125"/>
              <a:gd name="connsiteX8" fmla="*/ 21095 w 7216098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239709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712059 h 11160125"/>
              <a:gd name="connsiteX8" fmla="*/ 9520 w 7204523"/>
              <a:gd name="connsiteY8" fmla="*/ 1230189 h 11160125"/>
              <a:gd name="connsiteX0" fmla="*/ 14288 w 7209291"/>
              <a:gd name="connsiteY0" fmla="*/ 1230189 h 11160125"/>
              <a:gd name="connsiteX1" fmla="*/ 4768 w 7209291"/>
              <a:gd name="connsiteY1" fmla="*/ 0 h 11160125"/>
              <a:gd name="connsiteX2" fmla="*/ 7209291 w 7209291"/>
              <a:gd name="connsiteY2" fmla="*/ 5542 h 11160125"/>
              <a:gd name="connsiteX3" fmla="*/ 7202488 w 7209291"/>
              <a:gd name="connsiteY3" fmla="*/ 1230189 h 11160125"/>
              <a:gd name="connsiteX4" fmla="*/ 7202488 w 7209291"/>
              <a:gd name="connsiteY4" fmla="*/ 11133093 h 11160125"/>
              <a:gd name="connsiteX5" fmla="*/ 5972299 w 7209291"/>
              <a:gd name="connsiteY5" fmla="*/ 11160125 h 11160125"/>
              <a:gd name="connsiteX6" fmla="*/ 1573089 w 7209291"/>
              <a:gd name="connsiteY6" fmla="*/ 11160125 h 11160125"/>
              <a:gd name="connsiteX7" fmla="*/ 0 w 7209291"/>
              <a:gd name="connsiteY7" fmla="*/ 9260743 h 11160125"/>
              <a:gd name="connsiteX8" fmla="*/ 14288 w 7209291"/>
              <a:gd name="connsiteY8" fmla="*/ 1230189 h 11160125"/>
              <a:gd name="connsiteX0" fmla="*/ 14454 w 7209457"/>
              <a:gd name="connsiteY0" fmla="*/ 1230189 h 11160125"/>
              <a:gd name="connsiteX1" fmla="*/ 4934 w 7209457"/>
              <a:gd name="connsiteY1" fmla="*/ 0 h 11160125"/>
              <a:gd name="connsiteX2" fmla="*/ 7209457 w 7209457"/>
              <a:gd name="connsiteY2" fmla="*/ 5542 h 11160125"/>
              <a:gd name="connsiteX3" fmla="*/ 7202654 w 7209457"/>
              <a:gd name="connsiteY3" fmla="*/ 1230189 h 11160125"/>
              <a:gd name="connsiteX4" fmla="*/ 7202654 w 7209457"/>
              <a:gd name="connsiteY4" fmla="*/ 11133093 h 11160125"/>
              <a:gd name="connsiteX5" fmla="*/ 5972465 w 7209457"/>
              <a:gd name="connsiteY5" fmla="*/ 11160125 h 11160125"/>
              <a:gd name="connsiteX6" fmla="*/ 1573255 w 7209457"/>
              <a:gd name="connsiteY6" fmla="*/ 11160125 h 11160125"/>
              <a:gd name="connsiteX7" fmla="*/ 166 w 7209457"/>
              <a:gd name="connsiteY7" fmla="*/ 9260743 h 11160125"/>
              <a:gd name="connsiteX8" fmla="*/ 14454 w 7209457"/>
              <a:gd name="connsiteY8" fmla="*/ 1230189 h 1116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09457" h="11160125" fill="norm" stroke="1" extrusionOk="0">
                <a:moveTo>
                  <a:pt x="14454" y="1230189"/>
                </a:moveTo>
                <a:cubicBezTo>
                  <a:pt x="11281" y="820126"/>
                  <a:pt x="8107" y="410063"/>
                  <a:pt x="4934" y="0"/>
                </a:cubicBezTo>
                <a:lnTo>
                  <a:pt x="7209457" y="5542"/>
                </a:lnTo>
                <a:cubicBezTo>
                  <a:pt x="7207189" y="413758"/>
                  <a:pt x="7204922" y="821973"/>
                  <a:pt x="7202654" y="1230189"/>
                </a:cubicBezTo>
                <a:lnTo>
                  <a:pt x="7202654" y="11133093"/>
                </a:lnTo>
                <a:lnTo>
                  <a:pt x="5972465" y="11160125"/>
                </a:lnTo>
                <a:lnTo>
                  <a:pt x="1573255" y="11160125"/>
                </a:lnTo>
                <a:cubicBezTo>
                  <a:pt x="893840" y="11160125"/>
                  <a:pt x="-14121" y="10562662"/>
                  <a:pt x="166" y="9260743"/>
                </a:cubicBezTo>
                <a:cubicBezTo>
                  <a:pt x="14453" y="7958824"/>
                  <a:pt x="9691" y="3907040"/>
                  <a:pt x="14454" y="123018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</p:sldLayoutIdLst>
  <p:hf dt="0" ftr="0" hdr="0" sldNum="1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image" Target="../media/image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28"/>
          </p:nvPr>
        </p:nvSpPr>
        <p:spPr bwMode="auto">
          <a:xfrm>
            <a:off x="15995589" y="10061174"/>
            <a:ext cx="3092077" cy="389048"/>
          </a:xfrm>
        </p:spPr>
        <p:txBody>
          <a:bodyPr anchor="b"/>
          <a:lstStyle/>
          <a:p>
            <a:pPr>
              <a:lnSpc>
                <a:spcPct val="100000"/>
              </a:lnSpc>
              <a:defRPr/>
            </a:pPr>
            <a:r>
              <a:rPr lang="ru-RU" spc="31">
                <a:latin typeface="TINKOFFSANS-MEDIUM"/>
              </a:rPr>
              <a:t>16</a:t>
            </a:r>
            <a:r>
              <a:rPr lang="ru-RU" sz="2000" spc="31">
                <a:latin typeface="TINKOFFSANS-MEDIUM"/>
              </a:rPr>
              <a:t>.09.2024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6"/>
          </p:nvPr>
        </p:nvSpPr>
        <p:spPr bwMode="auto">
          <a:xfrm>
            <a:off x="725196" y="10061174"/>
            <a:ext cx="2958178" cy="389048"/>
          </a:xfrm>
        </p:spPr>
        <p:txBody>
          <a:bodyPr lIns="0" tIns="0" rIns="0" bIns="0" anchor="b" anchorCtr="0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lang="ru-RU" sz="2000" spc="50">
                <a:latin typeface="TINKOFFSANS-MEDIUM"/>
              </a:rPr>
              <a:t>Зоркин Александр</a:t>
            </a:r>
            <a:endParaRPr/>
          </a:p>
        </p:txBody>
      </p:sp>
      <p:sp>
        <p:nvSpPr>
          <p:cNvPr id="16" name="Текст 2"/>
          <p:cNvSpPr txBox="1"/>
          <p:nvPr/>
        </p:nvSpPr>
        <p:spPr bwMode="auto">
          <a:xfrm>
            <a:off x="725196" y="4642973"/>
            <a:ext cx="16949403" cy="111959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08566" marR="0" indent="-438064" algn="l" defTabSz="1485609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17132" marR="0" indent="-517712" algn="l" defTabSz="1485609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25697" marR="0" indent="-589121" algn="l" defTabSz="1485609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560341" marR="0" indent="-589121" algn="l" defTabSz="1485609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3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03145" marR="0" indent="-589121" algn="l" defTabSz="1485609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045952" marR="0" indent="-589121" algn="l" defTabSz="1485609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788754" marR="0" indent="-589121" algn="l" defTabSz="1485609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531561" marR="0" indent="-589121" algn="l" defTabSz="1485609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55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lnSpc>
                <a:spcPts val="8200"/>
              </a:lnSpc>
              <a:defRPr/>
            </a:pPr>
            <a:r>
              <a:rPr lang="ru-RU" sz="7200" b="1">
                <a:latin typeface="Tinkoff Sans"/>
              </a:rPr>
              <a:t>Операционные системы</a:t>
            </a:r>
            <a:endParaRPr/>
          </a:p>
        </p:txBody>
      </p:sp>
      <p:sp>
        <p:nvSpPr>
          <p:cNvPr id="17" name="Текст 1"/>
          <p:cNvSpPr>
            <a:spLocks noGrp="1"/>
          </p:cNvSpPr>
          <p:nvPr>
            <p:ph type="body" sz="quarter" idx="21"/>
          </p:nvPr>
        </p:nvSpPr>
        <p:spPr bwMode="auto">
          <a:xfrm>
            <a:off x="725196" y="5847269"/>
            <a:ext cx="11134605" cy="685005"/>
          </a:xfrm>
        </p:spPr>
        <p:txBody>
          <a:bodyPr lIns="0" tIns="0" rIns="0" bIns="0" anchor="ctr" anchorCtr="0">
            <a:normAutofit/>
          </a:bodyPr>
          <a:lstStyle/>
          <a:p>
            <a:pPr>
              <a:lnSpc>
                <a:spcPts val="4000"/>
              </a:lnSpc>
              <a:defRPr/>
            </a:pPr>
            <a:r>
              <a:rPr lang="ru-RU" sz="2800"/>
              <a:t>Основы системного администрирования</a:t>
            </a:r>
            <a:endParaRPr/>
          </a:p>
        </p:txBody>
      </p:sp>
      <p:pic>
        <p:nvPicPr>
          <p:cNvPr id="135146837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2791504" y="3241972"/>
            <a:ext cx="6408165" cy="45213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/>
          <p:nvPr/>
        </p:nvSpPr>
        <p:spPr bwMode="auto">
          <a:xfrm flipH="0" flipV="0">
            <a:off x="719136" y="2182004"/>
            <a:ext cx="11899513" cy="682787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0" lvl="1" indent="0">
              <a:lnSpc>
                <a:spcPct val="100000"/>
              </a:lnSpc>
              <a:buClrTx/>
              <a:buSzPct val="100000"/>
              <a:buFont typeface="Wingdings"/>
              <a:buNone/>
              <a:defRPr/>
            </a:pPr>
            <a:r>
              <a:rPr lang="en-US" sz="48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Операционная система (ОС)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 — программное обеспечение, управляющее компьютерами (включая микроконтроллеры) и позволяющее запускать на них прикладные программы.</a:t>
            </a:r>
            <a:endParaRPr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0" lvl="1" indent="0">
              <a:lnSpc>
                <a:spcPct val="100000"/>
              </a:lnSpc>
              <a:buClrTx/>
              <a:buSzPct val="100000"/>
              <a:buFont typeface="Wingdings"/>
              <a:buNone/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Tinkoff Sans"/>
                <a:ea typeface="Tinkoff Sans"/>
                <a:cs typeface="Tinkoff Sans"/>
              </a:rPr>
              <a:t>Предоставляет программный интерфейс для взаимодействия с компьютером, управляет прикладными программами и занимается распределением ресурсов.</a:t>
            </a:r>
            <a:endParaRPr sz="3600" b="0" i="0" u="none" strike="noStrike" cap="none" spc="0">
              <a:ln>
                <a:noFill/>
              </a:ln>
              <a:solidFill>
                <a:schemeClr val="accent5"/>
              </a:solidFill>
              <a:latin typeface="Tinkoff Sans"/>
              <a:ea typeface="Tinkoff Sans"/>
              <a:cs typeface="Tinkoff Sans"/>
            </a:endParaRPr>
          </a:p>
          <a:p>
            <a:pPr marL="0" lvl="1" indent="0">
              <a:lnSpc>
                <a:spcPct val="100000"/>
              </a:lnSpc>
              <a:buClrTx/>
              <a:buSzPct val="100000"/>
              <a:buFont typeface="Wingdings"/>
              <a:buNone/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Tinkoff Sans"/>
                <a:ea typeface="Tinkoff Sans"/>
                <a:cs typeface="Tinkoff Sans"/>
              </a:rPr>
              <a:t>В широком смысле под операционной системой понимается совокупность ядра операционной системы и работающих поверх него программ и утилит.</a:t>
            </a:r>
            <a:endParaRPr sz="3600">
              <a:solidFill>
                <a:schemeClr val="accent5"/>
              </a:solidFill>
            </a:endParaRPr>
          </a:p>
        </p:txBody>
      </p:sp>
      <p:sp>
        <p:nvSpPr>
          <p:cNvPr id="4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</p:spPr>
        <p:txBody>
          <a:bodyPr/>
          <a:lstStyle/>
          <a:p>
            <a:pPr>
              <a:defRPr/>
            </a:pPr>
            <a:fld id="{86CB4B4D-7CA3-9044-876B-883B54F8677D}" type="slidenum">
              <a:rPr lang="ru-RU"/>
              <a:t/>
            </a:fld>
            <a:endParaRPr lang="ru-RU"/>
          </a:p>
        </p:txBody>
      </p:sp>
      <p:sp>
        <p:nvSpPr>
          <p:cNvPr id="2" name="Текст 17"/>
          <p:cNvSpPr txBox="1"/>
          <p:nvPr/>
        </p:nvSpPr>
        <p:spPr bwMode="auto">
          <a:xfrm>
            <a:off x="719136" y="562635"/>
            <a:ext cx="15750858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3" algn="l" defTabSz="411479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3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7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4" marR="0" indent="-598628" algn="l" defTabSz="1509582">
              <a:lnSpc>
                <a:spcPct val="118000"/>
              </a:lnSpc>
              <a:spcBef>
                <a:spcPts val="2400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5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7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8" marR="0" indent="-598628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7" algn="l" defTabSz="1509582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Операционные системы</a:t>
            </a:r>
            <a:endParaRPr/>
          </a:p>
        </p:txBody>
      </p:sp>
      <p:pic>
        <p:nvPicPr>
          <p:cNvPr id="163936413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3936568" y="1957916"/>
            <a:ext cx="4517361" cy="6707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823654" name="Уровень текста 1…"/>
          <p:cNvSpPr txBox="1"/>
          <p:nvPr/>
        </p:nvSpPr>
        <p:spPr bwMode="auto">
          <a:xfrm>
            <a:off x="719136" y="2182005"/>
            <a:ext cx="13851079" cy="644017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Классификация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 ОС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Функции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 ОС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Ядро и вот это все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HAL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584639" lvl="1" indent="-584639">
              <a:lnSpc>
                <a:spcPct val="100000"/>
              </a:lnSpc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Системные вызовы (API)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584639" lvl="1" indent="-584639">
              <a:lnSpc>
                <a:spcPct val="100000"/>
              </a:lnSpc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POSIX</a:t>
            </a:r>
            <a:endParaRPr sz="4800"/>
          </a:p>
        </p:txBody>
      </p:sp>
      <p:sp>
        <p:nvSpPr>
          <p:cNvPr id="917221582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5" cy="426061"/>
          </a:xfrm>
        </p:spPr>
        <p:txBody>
          <a:bodyPr/>
          <a:lstStyle/>
          <a:p>
            <a:pPr>
              <a:defRPr/>
            </a:pPr>
            <a:fld id="{F0639E5B-7F3F-4D47-E442-4955125ADF92}" type="slidenum">
              <a:rPr lang="ru-RU"/>
              <a:t/>
            </a:fld>
            <a:endParaRPr lang="ru-RU"/>
          </a:p>
        </p:txBody>
      </p:sp>
      <p:sp>
        <p:nvSpPr>
          <p:cNvPr id="2006501354" name="Текст 17"/>
          <p:cNvSpPr txBox="1"/>
          <p:nvPr/>
        </p:nvSpPr>
        <p:spPr bwMode="auto">
          <a:xfrm>
            <a:off x="719136" y="562635"/>
            <a:ext cx="15742938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Агенда </a:t>
            </a:r>
            <a:endParaRPr/>
          </a:p>
        </p:txBody>
      </p:sp>
      <p:pic>
        <p:nvPicPr>
          <p:cNvPr id="1724918248" name="Рисунок 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936571" y="4157559"/>
            <a:ext cx="8152354" cy="47345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" name="Текст 22"/>
          <p:cNvSpPr txBox="1">
            <a:spLocks noGrp="1"/>
          </p:cNvSpPr>
          <p:nvPr>
            <p:ph type="body" sz="quarter" idx="1"/>
          </p:nvPr>
        </p:nvSpPr>
        <p:spPr bwMode="auto">
          <a:xfrm flipH="0" flipV="0">
            <a:off x="5536692" y="4504063"/>
            <a:ext cx="11451363" cy="2220584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  <a:defRPr/>
            </a:pPr>
            <a:r>
              <a:rPr sz="7200" b="1">
                <a:latin typeface="Tinkoff Sans"/>
              </a:rPr>
              <a:t>Классификация операционных систем</a:t>
            </a:r>
            <a:endParaRPr sz="7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668692" name="Уровень текста 1…"/>
          <p:cNvSpPr txBox="1"/>
          <p:nvPr/>
        </p:nvSpPr>
        <p:spPr bwMode="auto">
          <a:xfrm>
            <a:off x="719136" y="2182005"/>
            <a:ext cx="13851800" cy="31992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системы пакетной обработки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системы разделения времени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системы реального времени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443753879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5" cy="426061"/>
          </a:xfrm>
        </p:spPr>
        <p:txBody>
          <a:bodyPr/>
          <a:lstStyle/>
          <a:p>
            <a:pPr>
              <a:defRPr/>
            </a:pPr>
            <a:fld id="{3C9FE969-D23D-0CCA-2BFB-368F1D5A5E9D}" type="slidenum">
              <a:rPr lang="ru-RU"/>
              <a:t/>
            </a:fld>
            <a:endParaRPr lang="ru-RU"/>
          </a:p>
        </p:txBody>
      </p:sp>
      <p:sp>
        <p:nvSpPr>
          <p:cNvPr id="116754906" name="Текст 17"/>
          <p:cNvSpPr txBox="1"/>
          <p:nvPr/>
        </p:nvSpPr>
        <p:spPr bwMode="auto">
          <a:xfrm>
            <a:off x="719136" y="562635"/>
            <a:ext cx="15783257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По способу организации вычислений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412690" name="Уровень текста 1…"/>
          <p:cNvSpPr txBox="1"/>
          <p:nvPr/>
        </p:nvSpPr>
        <p:spPr bwMode="auto">
          <a:xfrm>
            <a:off x="719136" y="2182005"/>
            <a:ext cx="13853240" cy="31992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системы с монолитным ядром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системы с микроядром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системы с гибридным ядром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940090189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5" cy="426061"/>
          </a:xfrm>
        </p:spPr>
        <p:txBody>
          <a:bodyPr/>
          <a:lstStyle/>
          <a:p>
            <a:pPr>
              <a:defRPr/>
            </a:pPr>
            <a:fld id="{CD9B19F6-8FD9-BE70-BD6B-50DA8BDBA954}" type="slidenum">
              <a:rPr lang="ru-RU"/>
              <a:t/>
            </a:fld>
            <a:endParaRPr lang="ru-RU"/>
          </a:p>
        </p:txBody>
      </p:sp>
      <p:sp>
        <p:nvSpPr>
          <p:cNvPr id="459243498" name="Текст 17"/>
          <p:cNvSpPr txBox="1"/>
          <p:nvPr/>
        </p:nvSpPr>
        <p:spPr bwMode="auto">
          <a:xfrm>
            <a:off x="719136" y="562635"/>
            <a:ext cx="15786137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По типу ядра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023025" name="Уровень текста 1…"/>
          <p:cNvSpPr txBox="1"/>
          <p:nvPr/>
        </p:nvSpPr>
        <p:spPr bwMode="auto">
          <a:xfrm>
            <a:off x="719136" y="2182005"/>
            <a:ext cx="13862960" cy="203141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однозадачные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многозадачные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973782047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5" cy="426061"/>
          </a:xfrm>
        </p:spPr>
        <p:txBody>
          <a:bodyPr/>
          <a:lstStyle/>
          <a:p>
            <a:pPr>
              <a:defRPr/>
            </a:pPr>
            <a:fld id="{CFFDEC66-7548-CFA7-0C66-9057CD78A755}" type="slidenum">
              <a:rPr lang="ru-RU"/>
              <a:t/>
            </a:fld>
            <a:endParaRPr lang="ru-RU"/>
          </a:p>
        </p:txBody>
      </p:sp>
      <p:sp>
        <p:nvSpPr>
          <p:cNvPr id="821020271" name="Текст 17"/>
          <p:cNvSpPr txBox="1"/>
          <p:nvPr/>
        </p:nvSpPr>
        <p:spPr bwMode="auto">
          <a:xfrm>
            <a:off x="719136" y="562635"/>
            <a:ext cx="15803057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2" algn="l" defTabSz="411478">
              <a:lnSpc>
                <a:spcPct val="100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2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7" algn="l" defTabSz="1509581">
              <a:lnSpc>
                <a:spcPct val="118000"/>
              </a:lnSpc>
              <a:spcBef>
                <a:spcPts val="2399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4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6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7" marR="0" indent="-598627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1">
              <a:lnSpc>
                <a:spcPct val="90000"/>
              </a:lnSpc>
              <a:spcBef>
                <a:spcPts val="1599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По кол-ву одновременно решаемых задач</a:t>
            </a:r>
            <a:endParaRPr/>
          </a:p>
        </p:txBody>
      </p:sp>
      <p:sp>
        <p:nvSpPr>
          <p:cNvPr id="1448592813" name="Уровень текста 1…"/>
          <p:cNvSpPr txBox="1"/>
          <p:nvPr/>
        </p:nvSpPr>
        <p:spPr bwMode="auto">
          <a:xfrm>
            <a:off x="719136" y="7262004"/>
            <a:ext cx="13882399" cy="203141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однопользовательские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многопользовательские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26623630" name="Текст 17"/>
          <p:cNvSpPr txBox="1"/>
          <p:nvPr/>
        </p:nvSpPr>
        <p:spPr bwMode="auto">
          <a:xfrm>
            <a:off x="719136" y="5642635"/>
            <a:ext cx="1581061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По кол-ву одновременных пользователей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2798" name="Уровень текста 1…"/>
          <p:cNvSpPr txBox="1"/>
          <p:nvPr/>
        </p:nvSpPr>
        <p:spPr bwMode="auto">
          <a:xfrm>
            <a:off x="719136" y="2182005"/>
            <a:ext cx="13873399" cy="203141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однопроцессорные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многопроцессорные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085793795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C0D4FA9C-9735-144F-C373-C5CD690720F7}" type="slidenum">
              <a:rPr lang="ru-RU"/>
              <a:t/>
            </a:fld>
            <a:endParaRPr lang="ru-RU"/>
          </a:p>
        </p:txBody>
      </p:sp>
      <p:sp>
        <p:nvSpPr>
          <p:cNvPr id="884376334" name="Текст 17"/>
          <p:cNvSpPr txBox="1"/>
          <p:nvPr/>
        </p:nvSpPr>
        <p:spPr bwMode="auto">
          <a:xfrm>
            <a:off x="719136" y="562635"/>
            <a:ext cx="1581313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По кол-ву поддерживаемых процессоров</a:t>
            </a:r>
            <a:endParaRPr/>
          </a:p>
        </p:txBody>
      </p:sp>
      <p:sp>
        <p:nvSpPr>
          <p:cNvPr id="1249049910" name="Уровень текста 1…"/>
          <p:cNvSpPr txBox="1"/>
          <p:nvPr/>
        </p:nvSpPr>
        <p:spPr bwMode="auto">
          <a:xfrm>
            <a:off x="719136" y="7262004"/>
            <a:ext cx="13888159" cy="203141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локальные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сетевые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38635746" name="Текст 17"/>
          <p:cNvSpPr txBox="1"/>
          <p:nvPr/>
        </p:nvSpPr>
        <p:spPr bwMode="auto">
          <a:xfrm>
            <a:off x="719136" y="5642636"/>
            <a:ext cx="1581637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По поддержке сети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84125" name="Уровень текста 1…"/>
          <p:cNvSpPr txBox="1"/>
          <p:nvPr/>
        </p:nvSpPr>
        <p:spPr bwMode="auto">
          <a:xfrm>
            <a:off x="719136" y="2182005"/>
            <a:ext cx="13881679" cy="203141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серверные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клиентские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218260013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342FE7F8-5A6E-6766-2027-7BD1503F2B8E}" type="slidenum">
              <a:rPr lang="ru-RU"/>
              <a:t/>
            </a:fld>
            <a:endParaRPr lang="ru-RU"/>
          </a:p>
        </p:txBody>
      </p:sp>
      <p:sp>
        <p:nvSpPr>
          <p:cNvPr id="1597518953" name="Текст 17"/>
          <p:cNvSpPr txBox="1"/>
          <p:nvPr/>
        </p:nvSpPr>
        <p:spPr bwMode="auto">
          <a:xfrm>
            <a:off x="719136" y="562635"/>
            <a:ext cx="1582537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По роли в сетевом взаимодействии</a:t>
            </a:r>
            <a:endParaRPr/>
          </a:p>
        </p:txBody>
      </p:sp>
      <p:sp>
        <p:nvSpPr>
          <p:cNvPr id="2046634336" name="Уровень текста 1…"/>
          <p:cNvSpPr txBox="1"/>
          <p:nvPr/>
        </p:nvSpPr>
        <p:spPr bwMode="auto">
          <a:xfrm>
            <a:off x="719136" y="7262004"/>
            <a:ext cx="13897519" cy="203141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открытые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закрытые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683343946" name="Текст 17"/>
          <p:cNvSpPr txBox="1"/>
          <p:nvPr/>
        </p:nvSpPr>
        <p:spPr bwMode="auto">
          <a:xfrm>
            <a:off x="719136" y="5642636"/>
            <a:ext cx="1582141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По типу лицензии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05422" name="Уровень текста 1…"/>
          <p:cNvSpPr txBox="1"/>
          <p:nvPr/>
        </p:nvSpPr>
        <p:spPr bwMode="auto">
          <a:xfrm flipH="0" flipV="0">
            <a:off x="719136" y="2182005"/>
            <a:ext cx="15724992" cy="67028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операционные системы мэйнфреймов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операционные системы серверов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операционные системы персональных компьютеров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операционные системы мобильных устройств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встроенные операционные системы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операционные системы маршрутизаторов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445289885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23A4CC18-54D6-AB6B-4D4E-36BC6073EAEC}" type="slidenum">
              <a:rPr lang="ru-RU"/>
              <a:t/>
            </a:fld>
            <a:endParaRPr lang="ru-RU"/>
          </a:p>
        </p:txBody>
      </p:sp>
      <p:sp>
        <p:nvSpPr>
          <p:cNvPr id="258516295" name="Текст 17"/>
          <p:cNvSpPr txBox="1"/>
          <p:nvPr/>
        </p:nvSpPr>
        <p:spPr bwMode="auto">
          <a:xfrm>
            <a:off x="719136" y="562635"/>
            <a:ext cx="1579477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По области применения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304438" name="Текст 22"/>
          <p:cNvSpPr txBox="1">
            <a:spLocks noGrp="1"/>
          </p:cNvSpPr>
          <p:nvPr>
            <p:ph type="body" sz="quarter" idx="1"/>
          </p:nvPr>
        </p:nvSpPr>
        <p:spPr bwMode="auto">
          <a:xfrm flipH="0" flipV="0">
            <a:off x="5536692" y="4504062"/>
            <a:ext cx="11451362" cy="2220583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  <a:defRPr/>
            </a:pPr>
            <a:r>
              <a:rPr sz="7200" b="1">
                <a:latin typeface="Tinkoff Sans"/>
              </a:rPr>
              <a:t>Структура и функции ОС</a:t>
            </a:r>
            <a:endParaRPr sz="7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220722" name="Уровень текста 1…"/>
          <p:cNvSpPr txBox="1"/>
          <p:nvPr/>
        </p:nvSpPr>
        <p:spPr bwMode="auto">
          <a:xfrm flipH="0" flipV="0">
            <a:off x="719136" y="2182005"/>
            <a:ext cx="15728591" cy="78707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обеспечение выполнения программ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управление оперативной памятью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управление внешней памятью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управление вводом-выводом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предоставление пользовательского интерфейса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обеспечение безопасности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организация сетевого взаимодействия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2062472873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0613086D-3078-CFD1-FF01-C3100AC4FA9D}" type="slidenum">
              <a:rPr lang="ru-RU"/>
              <a:t/>
            </a:fld>
            <a:endParaRPr lang="ru-RU"/>
          </a:p>
        </p:txBody>
      </p:sp>
      <p:sp>
        <p:nvSpPr>
          <p:cNvPr id="1474850628" name="Текст 17"/>
          <p:cNvSpPr txBox="1"/>
          <p:nvPr/>
        </p:nvSpPr>
        <p:spPr bwMode="auto">
          <a:xfrm>
            <a:off x="719136" y="562635"/>
            <a:ext cx="1580161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Основные функции ОС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228655" name="Уровень текста 1…"/>
          <p:cNvSpPr txBox="1"/>
          <p:nvPr/>
        </p:nvSpPr>
        <p:spPr bwMode="auto">
          <a:xfrm flipH="0" flipV="0">
            <a:off x="719136" y="2182005"/>
            <a:ext cx="15751271" cy="661253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ядро, содержащее: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1014360" lvl="1" indent="-614310">
              <a:lnSpc>
                <a:spcPct val="100000"/>
              </a:lnSpc>
              <a:buClrTx/>
              <a:buSzPct val="100000"/>
              <a:buFont typeface="Wingdings"/>
              <a:buChar char="§"/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планировщик</a:t>
            </a:r>
            <a:endParaRPr sz="36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1014360" lvl="1" indent="-614310">
              <a:lnSpc>
                <a:spcPct val="100000"/>
              </a:lnSpc>
              <a:buClrTx/>
              <a:buSzPct val="100000"/>
              <a:buFont typeface="Wingdings"/>
              <a:buChar char="§"/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драйверы устройств</a:t>
            </a:r>
            <a:endParaRPr sz="36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1014360" lvl="1" indent="-614310">
              <a:lnSpc>
                <a:spcPct val="100000"/>
              </a:lnSpc>
              <a:buClrTx/>
              <a:buSzPct val="100000"/>
              <a:buFont typeface="Wingdings"/>
              <a:buChar char="§"/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сетевую подсистему</a:t>
            </a:r>
            <a:endParaRPr sz="36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L="1014360" lvl="1" indent="-614310">
              <a:lnSpc>
                <a:spcPct val="100000"/>
              </a:lnSpc>
              <a:buClrTx/>
              <a:buSzPct val="100000"/>
              <a:buFont typeface="Wingdings"/>
              <a:buChar char="§"/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файловую систему</a:t>
            </a:r>
            <a:endParaRPr sz="36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системные библиотеки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пользовательская оболочка 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313020566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3B28EDD6-0E60-F68F-0189-83FA8E08FCD7}" type="slidenum">
              <a:rPr lang="ru-RU"/>
              <a:t/>
            </a:fld>
            <a:endParaRPr lang="ru-RU"/>
          </a:p>
        </p:txBody>
      </p:sp>
      <p:sp>
        <p:nvSpPr>
          <p:cNvPr id="1535388459" name="Текст 17"/>
          <p:cNvSpPr txBox="1"/>
          <p:nvPr/>
        </p:nvSpPr>
        <p:spPr bwMode="auto">
          <a:xfrm>
            <a:off x="719136" y="562635"/>
            <a:ext cx="1580593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Структура ОС</a:t>
            </a:r>
            <a:endParaRPr/>
          </a:p>
        </p:txBody>
      </p:sp>
      <p:pic>
        <p:nvPicPr>
          <p:cNvPr id="143911934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91453" y="5980726"/>
            <a:ext cx="7403276" cy="4010107"/>
          </a:xfrm>
          <a:prstGeom prst="rect">
            <a:avLst/>
          </a:prstGeom>
        </p:spPr>
      </p:pic>
      <p:pic>
        <p:nvPicPr>
          <p:cNvPr id="1912674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61527" y="650830"/>
            <a:ext cx="7463130" cy="4664456"/>
          </a:xfrm>
          <a:prstGeom prst="rect">
            <a:avLst/>
          </a:prstGeom>
        </p:spPr>
      </p:pic>
      <p:cxnSp>
        <p:nvCxnSpPr>
          <p:cNvPr id="0" name=""/>
          <p:cNvCxnSpPr>
            <a:cxnSpLocks/>
          </p:cNvCxnSpPr>
          <p:nvPr/>
        </p:nvCxnSpPr>
        <p:spPr bwMode="auto">
          <a:xfrm flipH="0" flipV="1">
            <a:off x="8510010" y="5488274"/>
            <a:ext cx="2057488" cy="2449225"/>
          </a:xfrm>
          <a:prstGeom prst="line">
            <a:avLst/>
          </a:prstGeom>
          <a:solidFill>
            <a:schemeClr val="accent2">
              <a:lumMod val="75000"/>
              <a:alpha val="19000"/>
            </a:schemeClr>
          </a:solidFill>
          <a:ln w="76199" cap="flat">
            <a:solidFill>
              <a:schemeClr val="accent1"/>
            </a:solidFill>
            <a:prstDash val="solid"/>
            <a:miter lim="800000"/>
            <a:tailEnd type="arrow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cxnSp>
        <p:nvCxnSpPr>
          <p:cNvPr id="839292331" name=""/>
          <p:cNvCxnSpPr>
            <a:cxnSpLocks/>
          </p:cNvCxnSpPr>
          <p:nvPr/>
        </p:nvCxnSpPr>
        <p:spPr bwMode="auto">
          <a:xfrm flipH="0" flipV="1">
            <a:off x="8622105" y="7249583"/>
            <a:ext cx="1945394" cy="946148"/>
          </a:xfrm>
          <a:prstGeom prst="line">
            <a:avLst/>
          </a:prstGeom>
          <a:solidFill>
            <a:schemeClr val="accent2">
              <a:lumMod val="75000"/>
              <a:alpha val="19000"/>
            </a:schemeClr>
          </a:solidFill>
          <a:ln w="76199" cap="flat">
            <a:solidFill>
              <a:schemeClr val="accent1"/>
            </a:solidFill>
            <a:prstDash val="solid"/>
            <a:miter lim="800000"/>
            <a:tailEnd type="arrow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680310" name="Уровень текста 1…"/>
          <p:cNvSpPr txBox="1"/>
          <p:nvPr/>
        </p:nvSpPr>
        <p:spPr bwMode="auto">
          <a:xfrm flipH="0" flipV="0">
            <a:off x="719136" y="2182005"/>
            <a:ext cx="15770351" cy="34531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en-US" sz="48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Слой аппаратных абстракций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 (HAL) — 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слой абстрагирования, реализованный в программном обеспечении, находящийся между физическим уровнем аппаратного обеспечения и программным обеспечением, запускаемом на компьютере.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1667843702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A9141C9B-CC05-166B-3F5A-167B11526BBA}" type="slidenum">
              <a:rPr lang="ru-RU"/>
              <a:t/>
            </a:fld>
            <a:endParaRPr lang="ru-RU"/>
          </a:p>
        </p:txBody>
      </p:sp>
      <p:sp>
        <p:nvSpPr>
          <p:cNvPr id="1914549470" name="Текст 17"/>
          <p:cNvSpPr txBox="1"/>
          <p:nvPr/>
        </p:nvSpPr>
        <p:spPr bwMode="auto">
          <a:xfrm>
            <a:off x="719136" y="562635"/>
            <a:ext cx="1580629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Hardware Abstraction Layer </a:t>
            </a:r>
            <a:endParaRPr/>
          </a:p>
        </p:txBody>
      </p:sp>
      <p:pic>
        <p:nvPicPr>
          <p:cNvPr id="196988775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081406" y="5919450"/>
            <a:ext cx="8207898" cy="4720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737076" name="Текст 22"/>
          <p:cNvSpPr txBox="1">
            <a:spLocks noGrp="1"/>
          </p:cNvSpPr>
          <p:nvPr>
            <p:ph type="body" sz="quarter" idx="1"/>
          </p:nvPr>
        </p:nvSpPr>
        <p:spPr bwMode="auto">
          <a:xfrm flipH="0" flipV="0">
            <a:off x="5536692" y="4504062"/>
            <a:ext cx="11451362" cy="2220583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>
              <a:defRPr sz="8000"/>
            </a:lvl1pPr>
          </a:lstStyle>
          <a:p>
            <a:pPr>
              <a:lnSpc>
                <a:spcPct val="100000"/>
              </a:lnSpc>
              <a:defRPr/>
            </a:pPr>
            <a:r>
              <a:rPr sz="7200" b="1">
                <a:latin typeface="Tinkoff Sans"/>
              </a:rPr>
              <a:t>Системные вызовы</a:t>
            </a:r>
            <a:endParaRPr sz="7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308138" name="Уровень текста 1…"/>
          <p:cNvSpPr txBox="1"/>
          <p:nvPr/>
        </p:nvSpPr>
        <p:spPr bwMode="auto">
          <a:xfrm flipH="0" flipV="0">
            <a:off x="719136" y="2182005"/>
            <a:ext cx="15751991" cy="80357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en-US" sz="48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Системный вызов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 (англ. system call) — обращение прикладной программы к ядру операционной системы для выполнения какой-либо операции.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Tinkoff Sans"/>
                <a:ea typeface="Tinkoff Sans"/>
                <a:cs typeface="Tinkoff Sans"/>
              </a:rPr>
              <a:t>Современные операционные системы предусматривают многозадачность и разделение полномочий процессов, препятствующее обращению исполняемых программ к данным других программ и оборудованию. </a:t>
            </a:r>
            <a:endParaRPr sz="3600" b="0" i="0" u="none" strike="noStrike" cap="none" spc="0">
              <a:ln>
                <a:noFill/>
              </a:ln>
              <a:solidFill>
                <a:schemeClr val="accent5"/>
              </a:solidFill>
              <a:latin typeface="Tinkoff Sans"/>
              <a:ea typeface="Tinkoff Sans"/>
              <a:cs typeface="Tinkoff Sans"/>
            </a:endParaRPr>
          </a:p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Tinkoff Sans"/>
                <a:ea typeface="Tinkoff Sans"/>
                <a:cs typeface="Tinkoff Sans"/>
              </a:rPr>
              <a:t>Ядро ОС исполняется в </a:t>
            </a:r>
            <a:r>
              <a:rPr lang="en-US" sz="3600" b="1" i="0" u="none" strike="noStrike" cap="none" spc="0">
                <a:ln>
                  <a:noFill/>
                </a:ln>
                <a:solidFill>
                  <a:schemeClr val="accent5"/>
                </a:solidFill>
                <a:latin typeface="Tinkoff Sans"/>
                <a:ea typeface="Tinkoff Sans"/>
                <a:cs typeface="Tinkoff Sans"/>
              </a:rPr>
              <a:t>привилегированном </a:t>
            </a:r>
            <a:r>
              <a:rPr lang="en-US" sz="36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Tinkoff Sans"/>
                <a:ea typeface="Tinkoff Sans"/>
                <a:cs typeface="Tinkoff Sans"/>
              </a:rPr>
              <a:t>режиме работы процессора.</a:t>
            </a:r>
            <a:endParaRPr lang="en-US" sz="3600" b="0" i="0" u="none" strike="noStrike" cap="none" spc="0">
              <a:ln>
                <a:noFill/>
              </a:ln>
              <a:solidFill>
                <a:schemeClr val="accent5"/>
              </a:solidFill>
              <a:latin typeface="Tinkoff Sans"/>
              <a:ea typeface="Tinkoff Sans"/>
              <a:cs typeface="Tinkoff Sans"/>
            </a:endParaRPr>
          </a:p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Tinkoff Sans"/>
                <a:ea typeface="Tinkoff Sans"/>
                <a:cs typeface="Tinkoff Sans"/>
              </a:rPr>
              <a:t>Для выполнения операции, требующей доступа к оборудованию, программа обращается к ядру, которое, в зависимости от полномочий вызывающего процесса, исполняет либо отказывает в исполнении такого вызова.</a:t>
            </a:r>
            <a:endParaRPr sz="3600" b="0" i="0" u="none" strike="noStrike" cap="none" spc="0">
              <a:ln>
                <a:noFill/>
              </a:ln>
              <a:solidFill>
                <a:schemeClr val="accent5"/>
              </a:solidFill>
              <a:latin typeface="Tinkoff Sans"/>
              <a:cs typeface="Tinkoff Sans"/>
            </a:endParaRPr>
          </a:p>
        </p:txBody>
      </p:sp>
      <p:sp>
        <p:nvSpPr>
          <p:cNvPr id="819375233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672E93F8-886E-15CC-1E5F-41B8D4CE5797}" type="slidenum">
              <a:rPr lang="ru-RU"/>
              <a:t/>
            </a:fld>
            <a:endParaRPr lang="ru-RU"/>
          </a:p>
        </p:txBody>
      </p:sp>
      <p:sp>
        <p:nvSpPr>
          <p:cNvPr id="1197159283" name="Текст 17"/>
          <p:cNvSpPr txBox="1"/>
          <p:nvPr/>
        </p:nvSpPr>
        <p:spPr bwMode="auto">
          <a:xfrm>
            <a:off x="719136" y="562635"/>
            <a:ext cx="1581997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Системные вызовы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824071" name="Уровень текста 1…"/>
          <p:cNvSpPr txBox="1"/>
          <p:nvPr/>
        </p:nvSpPr>
        <p:spPr bwMode="auto">
          <a:xfrm flipH="0" flipV="0">
            <a:off x="719136" y="2182005"/>
            <a:ext cx="15733631" cy="553501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управление процессами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работа с файлами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управление устройствами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работа с информацией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связь, коммуникация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49192880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B552CCD8-0AD7-E0E3-D3C7-1C69C92A4BA4}" type="slidenum">
              <a:rPr lang="ru-RU"/>
              <a:t/>
            </a:fld>
            <a:endParaRPr lang="ru-RU"/>
          </a:p>
        </p:txBody>
      </p:sp>
      <p:sp>
        <p:nvSpPr>
          <p:cNvPr id="1755277577" name="Текст 17"/>
          <p:cNvSpPr txBox="1"/>
          <p:nvPr/>
        </p:nvSpPr>
        <p:spPr bwMode="auto">
          <a:xfrm>
            <a:off x="719136" y="562635"/>
            <a:ext cx="1581133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Категории системных вызовов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261121" name="Уровень текста 1…"/>
          <p:cNvSpPr txBox="1"/>
          <p:nvPr/>
        </p:nvSpPr>
        <p:spPr bwMode="auto">
          <a:xfrm flipH="0" flipV="0">
            <a:off x="719136" y="2182005"/>
            <a:ext cx="15735071" cy="203141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Windows API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Linux\UNIX API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22882880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9517E604-EA65-F182-2D5B-2FE22CA8CBB4}" type="slidenum">
              <a:rPr lang="ru-RU"/>
              <a:t/>
            </a:fld>
            <a:endParaRPr lang="ru-RU"/>
          </a:p>
        </p:txBody>
      </p:sp>
      <p:sp>
        <p:nvSpPr>
          <p:cNvPr id="1240839756" name="Текст 17"/>
          <p:cNvSpPr txBox="1"/>
          <p:nvPr/>
        </p:nvSpPr>
        <p:spPr bwMode="auto">
          <a:xfrm>
            <a:off x="719136" y="562635"/>
            <a:ext cx="1582465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API системных вызовов</a:t>
            </a:r>
            <a:endParaRPr/>
          </a:p>
        </p:txBody>
      </p:sp>
      <p:pic>
        <p:nvPicPr>
          <p:cNvPr id="210310989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313914" y="293959"/>
            <a:ext cx="8145319" cy="10452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25268" name="Уровень текста 1…"/>
          <p:cNvSpPr txBox="1"/>
          <p:nvPr/>
        </p:nvSpPr>
        <p:spPr bwMode="auto">
          <a:xfrm flipH="0" flipV="0">
            <a:off x="719136" y="2182005"/>
            <a:ext cx="15752351" cy="569999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en-US" sz="48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POSIX 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(англ. Portable Operating System Interface) — набор стандартов, описывающих интерфейсы между операционной системой и прикладной программой (системный API), библиотеку языка C и набор приложений и их интерфейсов. 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Tinkoff Sans"/>
                <a:ea typeface="Tinkoff Sans"/>
                <a:cs typeface="Tinkoff Sans"/>
              </a:rPr>
              <a:t>Стандарт создан для обеспечения совместимости различных UNIX-подобных операционных систем и переносимости прикладных программ на уровне исходного кода, но может быть использован и для не-Unix систем.</a:t>
            </a:r>
            <a:endParaRPr lang="en-US" sz="3600" b="0" i="0" u="none" strike="noStrike" cap="none" spc="0">
              <a:ln>
                <a:noFill/>
              </a:ln>
              <a:solidFill>
                <a:schemeClr val="accent5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21259332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B5DD1370-6A15-2484-B0D9-481A11FAFC55}" type="slidenum">
              <a:rPr lang="ru-RU"/>
              <a:t/>
            </a:fld>
            <a:endParaRPr lang="ru-RU"/>
          </a:p>
        </p:txBody>
      </p:sp>
      <p:sp>
        <p:nvSpPr>
          <p:cNvPr id="1909884304" name="Текст 17"/>
          <p:cNvSpPr txBox="1"/>
          <p:nvPr/>
        </p:nvSpPr>
        <p:spPr bwMode="auto">
          <a:xfrm>
            <a:off x="719136" y="562635"/>
            <a:ext cx="1581745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POSIX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915218" name="Уровень текста 1…"/>
          <p:cNvSpPr txBox="1"/>
          <p:nvPr/>
        </p:nvSpPr>
        <p:spPr bwMode="auto">
          <a:xfrm flipH="0" flipV="0">
            <a:off x="719136" y="2182005"/>
            <a:ext cx="15749471" cy="52303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содействовать облегчению переноса кода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способствовать определению и унификации интерфейсов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сохранять по возможности и учитывать все главные, созданные ранее и используемые программы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определять необходимый минимум интерфейсов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 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55709335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695980B4-D67A-C6F4-C855-484D85DA880F}" type="slidenum">
              <a:rPr lang="ru-RU"/>
              <a:t/>
            </a:fld>
            <a:endParaRPr lang="ru-RU"/>
          </a:p>
        </p:txBody>
      </p:sp>
      <p:sp>
        <p:nvSpPr>
          <p:cNvPr id="290395257" name="Текст 17"/>
          <p:cNvSpPr txBox="1"/>
          <p:nvPr/>
        </p:nvSpPr>
        <p:spPr bwMode="auto">
          <a:xfrm>
            <a:off x="719136" y="562635"/>
            <a:ext cx="1581997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Задачи POSIX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844716" name="Уровень текста 1…"/>
          <p:cNvSpPr txBox="1"/>
          <p:nvPr/>
        </p:nvSpPr>
        <p:spPr bwMode="auto">
          <a:xfrm flipH="0" flipV="0">
            <a:off x="719136" y="1935060"/>
            <a:ext cx="15750911" cy="28042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10" indent="-614310">
              <a:lnSpc>
                <a:spcPct val="100000"/>
              </a:lnSpc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FreeBSD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lnSpc>
                <a:spcPct val="100000"/>
              </a:lnSpc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BSD/OS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09" indent="-614309">
              <a:lnSpc>
                <a:spcPct val="100000"/>
              </a:lnSpc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Minix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426416914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4" cy="426060"/>
          </a:xfrm>
        </p:spPr>
        <p:txBody>
          <a:bodyPr/>
          <a:lstStyle/>
          <a:p>
            <a:pPr>
              <a:defRPr/>
            </a:pPr>
            <a:fld id="{CAFF30EA-FF04-FF87-20A1-45B7468B5ED6}" type="slidenum">
              <a:rPr lang="ru-RU"/>
              <a:t/>
            </a:fld>
            <a:endParaRPr lang="ru-RU"/>
          </a:p>
        </p:txBody>
      </p:sp>
      <p:sp>
        <p:nvSpPr>
          <p:cNvPr id="728728640" name="Текст 17"/>
          <p:cNvSpPr txBox="1"/>
          <p:nvPr/>
        </p:nvSpPr>
        <p:spPr bwMode="auto">
          <a:xfrm>
            <a:off x="719136" y="562635"/>
            <a:ext cx="15828616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POSIX</a:t>
            </a:r>
            <a:r>
              <a:rPr b="1"/>
              <a:t>-совместимые ОС:</a:t>
            </a:r>
            <a:endParaRPr b="1"/>
          </a:p>
        </p:txBody>
      </p:sp>
      <p:sp>
        <p:nvSpPr>
          <p:cNvPr id="662792936" name="Уровень текста 1…"/>
          <p:cNvSpPr txBox="1"/>
          <p:nvPr/>
        </p:nvSpPr>
        <p:spPr bwMode="auto">
          <a:xfrm>
            <a:off x="719136" y="7226727"/>
            <a:ext cx="13904719" cy="28042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numCol="1" spcCol="1080000">
            <a:spAutoFit/>
          </a:bodyPr>
          <a:lstStyle>
            <a:lvl1pPr marL="0" marR="0" indent="0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 marL="614310" indent="-614310">
              <a:lnSpc>
                <a:spcPct val="100000"/>
              </a:lnSpc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Linux </a:t>
            </a:r>
            <a:r>
              <a:rPr lang="en-US" sz="48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Tinkoff Sans"/>
                <a:ea typeface="Tinkoff Sans"/>
                <a:cs typeface="Tinkoff Sans"/>
              </a:rPr>
              <a:t>(большинство дистрибутивов)</a:t>
            </a:r>
            <a:endParaRPr sz="4800" b="0" i="0" u="none" strike="noStrike" cap="none" spc="0">
              <a:ln>
                <a:noFill/>
              </a:ln>
              <a:solidFill>
                <a:schemeClr val="accent5"/>
              </a:solidFill>
              <a:latin typeface="Tinkoff Sans"/>
              <a:cs typeface="Tinkoff Sans"/>
            </a:endParaRPr>
          </a:p>
          <a:p>
            <a:pPr marL="614310" indent="-614310">
              <a:lnSpc>
                <a:spcPct val="100000"/>
              </a:lnSpc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NetBSD и 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OpenBSD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  <a:p>
            <a:pPr marL="614310" indent="-614310">
              <a:lnSpc>
                <a:spcPct val="100000"/>
              </a:lnSpc>
              <a:buClrTx/>
              <a:buSzPct val="100000"/>
              <a:buFont typeface="Wingdings"/>
              <a:buChar char="§"/>
              <a:defRPr/>
            </a:pPr>
            <a:r>
              <a:rPr lang="en-US" sz="4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Syllable</a:t>
            </a:r>
            <a:endParaRPr lang="en-US" sz="4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1938507279" name="Текст 17"/>
          <p:cNvSpPr txBox="1"/>
          <p:nvPr/>
        </p:nvSpPr>
        <p:spPr bwMode="auto">
          <a:xfrm>
            <a:off x="719136" y="5871941"/>
            <a:ext cx="15831855" cy="91476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>
                <a:latin typeface="Tinkoff Sans"/>
              </a:rPr>
              <a:t>По большей части совместимые: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Holder 2"/>
          <p:cNvSpPr>
            <a:spLocks noGrp="1"/>
          </p:cNvSpPr>
          <p:nvPr>
            <p:ph type="title" idx="4294967295"/>
          </p:nvPr>
        </p:nvSpPr>
        <p:spPr bwMode="auto">
          <a:xfrm>
            <a:off x="738593" y="9089865"/>
            <a:ext cx="8226425" cy="1351123"/>
          </a:xfrm>
          <a:prstGeom prst="rect">
            <a:avLst/>
          </a:prstGeom>
        </p:spPr>
        <p:txBody>
          <a:bodyPr lIns="0" tIns="0" rIns="0" bIns="0" anchor="b"/>
          <a:lstStyle>
            <a:lvl1pPr marL="12700" marR="0" indent="0" algn="l" defTabSz="914400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Tx/>
              <a:buNone/>
              <a:defRPr sz="7900" b="0" i="0">
                <a:solidFill>
                  <a:srgbClr val="1A1919"/>
                </a:solidFill>
                <a:latin typeface="Tinkoff Sans"/>
                <a:cs typeface="Tinkoff Sans"/>
              </a:defRPr>
            </a:lvl1pPr>
          </a:lstStyle>
          <a:p>
            <a:pPr marL="12498" defTabSz="899880">
              <a:spcBef>
                <a:spcPts val="0"/>
              </a:spcBef>
              <a:defRPr/>
            </a:pPr>
            <a:r>
              <a:rPr lang="ru-RU" sz="9000" b="1">
                <a:latin typeface="Tinkoff Sans"/>
              </a:rPr>
              <a:t>Спасибо!</a:t>
            </a:r>
            <a:endParaRPr sz="9000" b="1">
              <a:latin typeface="Tinkoff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Р7-Офис/2024.1.3.422</Application>
  <DocSecurity>0</DocSecurity>
  <PresentationFormat>Произвольный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/>
  <cp:lastModifiedBy/>
  <cp:revision>681</cp:revision>
  <dcterms:modified xsi:type="dcterms:W3CDTF">2024-09-16T06:39:34Z</dcterms:modified>
  <cp:category/>
  <cp:contentStatus/>
  <cp:version/>
</cp:coreProperties>
</file>